
<file path=[Content_Types].xml><?xml version="1.0" encoding="utf-8"?>
<Types xmlns="http://schemas.openxmlformats.org/package/2006/content-types">
  <Default Extension="jfif"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7" r:id="rId4"/>
  </p:sldMasterIdLst>
  <p:notesMasterIdLst>
    <p:notesMasterId r:id="rId19"/>
  </p:notesMasterIdLst>
  <p:handoutMasterIdLst>
    <p:handoutMasterId r:id="rId20"/>
  </p:handoutMasterIdLst>
  <p:sldIdLst>
    <p:sldId id="338" r:id="rId5"/>
    <p:sldId id="327" r:id="rId6"/>
    <p:sldId id="315" r:id="rId7"/>
    <p:sldId id="329" r:id="rId8"/>
    <p:sldId id="302" r:id="rId9"/>
    <p:sldId id="339" r:id="rId10"/>
    <p:sldId id="340" r:id="rId11"/>
    <p:sldId id="344" r:id="rId12"/>
    <p:sldId id="345" r:id="rId13"/>
    <p:sldId id="346" r:id="rId14"/>
    <p:sldId id="341" r:id="rId15"/>
    <p:sldId id="342" r:id="rId16"/>
    <p:sldId id="343" r:id="rId17"/>
    <p:sldId id="304"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68" userDrawn="1">
          <p15:clr>
            <a:srgbClr val="A4A3A4"/>
          </p15:clr>
        </p15:guide>
        <p15:guide id="2" pos="408" userDrawn="1">
          <p15:clr>
            <a:srgbClr val="A4A3A4"/>
          </p15:clr>
        </p15:guide>
        <p15:guide id="3" orient="horz" pos="3912" userDrawn="1">
          <p15:clr>
            <a:srgbClr val="A4A3A4"/>
          </p15:clr>
        </p15:guide>
        <p15:guide id="4" pos="7272" userDrawn="1">
          <p15:clr>
            <a:srgbClr val="A4A3A4"/>
          </p15:clr>
        </p15:guide>
        <p15:guide id="5" orient="horz" pos="165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419AE38-882F-1515-E21D-2DA2765CE3A3}" v="2" dt="2026-09-02T10:33:37.143"/>
    <p1510:client id="{BA573E70-4CE7-E3DA-403D-1D1B358A6CED}" v="45" dt="2026-09-02T10:11:53.372"/>
  </p1510:revLst>
</p1510:revInfo>
</file>

<file path=ppt/tableStyles.xml><?xml version="1.0" encoding="utf-8"?>
<a:tblStyleLst xmlns:a="http://schemas.openxmlformats.org/drawingml/2006/main" def="{6E25E649-3F16-4E02-A733-19D2CDBF48F0}">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085" autoAdjust="0"/>
    <p:restoredTop sz="95033" autoAdjust="0"/>
  </p:normalViewPr>
  <p:slideViewPr>
    <p:cSldViewPr snapToGrid="0">
      <p:cViewPr varScale="1">
        <p:scale>
          <a:sx n="111" d="100"/>
          <a:sy n="111" d="100"/>
        </p:scale>
        <p:origin x="474" y="96"/>
      </p:cViewPr>
      <p:guideLst>
        <p:guide orient="horz" pos="1968"/>
        <p:guide pos="408"/>
        <p:guide orient="horz" pos="3912"/>
        <p:guide pos="7272"/>
        <p:guide orient="horz" pos="1656"/>
      </p:guideLst>
    </p:cSldViewPr>
  </p:slideViewPr>
  <p:outlineViewPr>
    <p:cViewPr>
      <p:scale>
        <a:sx n="33" d="100"/>
        <a:sy n="33" d="100"/>
      </p:scale>
      <p:origin x="0" y="-4886"/>
    </p:cViewPr>
  </p:outlineViewPr>
  <p:notesTextViewPr>
    <p:cViewPr>
      <p:scale>
        <a:sx n="3" d="2"/>
        <a:sy n="3" d="2"/>
      </p:scale>
      <p:origin x="0" y="0"/>
    </p:cViewPr>
  </p:notesTextViewPr>
  <p:sorterViewPr>
    <p:cViewPr>
      <p:scale>
        <a:sx n="110" d="100"/>
        <a:sy n="110" d="100"/>
      </p:scale>
      <p:origin x="0" y="-965"/>
    </p:cViewPr>
  </p:sorterViewPr>
  <p:notesViewPr>
    <p:cSldViewPr snapToGrid="0">
      <p:cViewPr varScale="1">
        <p:scale>
          <a:sx n="60" d="100"/>
          <a:sy n="60" d="100"/>
        </p:scale>
        <p:origin x="3187"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microsoft.com/office/2015/10/relationships/revisionInfo" Target="revisionInfo.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76F666D-E0C2-435B-BAA8-9287F9E5D38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19FEBCAF-CB3F-4928-91AA-D61472F880C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F1077DB-935E-4A0A-947A-D283B9F9F452}" type="datetimeFigureOut">
              <a:rPr lang="en-US" smtClean="0"/>
              <a:t>9/3/2026</a:t>
            </a:fld>
            <a:endParaRPr lang="en-US" dirty="0"/>
          </a:p>
        </p:txBody>
      </p:sp>
      <p:sp>
        <p:nvSpPr>
          <p:cNvPr id="4" name="Footer Placeholder 3">
            <a:extLst>
              <a:ext uri="{FF2B5EF4-FFF2-40B4-BE49-F238E27FC236}">
                <a16:creationId xmlns:a16="http://schemas.microsoft.com/office/drawing/2014/main" id="{69256698-63C6-4CCC-81CB-EA5604C30F1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B2467FDA-05D7-4760-A373-5D6AEAAF427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82C0B10-7CAE-41E4-AB02-7E8B1FF2B898}" type="slidenum">
              <a:rPr lang="en-US" smtClean="0"/>
              <a:t>‹#›</a:t>
            </a:fld>
            <a:endParaRPr lang="en-US" dirty="0"/>
          </a:p>
        </p:txBody>
      </p:sp>
    </p:spTree>
    <p:extLst>
      <p:ext uri="{BB962C8B-B14F-4D97-AF65-F5344CB8AC3E}">
        <p14:creationId xmlns:p14="http://schemas.microsoft.com/office/powerpoint/2010/main" val="36875375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9EC30E-1A71-4188-9BE7-E2A64929A436}" type="datetimeFigureOut">
              <a:rPr lang="en-US" noProof="0" smtClean="0"/>
              <a:t>9/3/2026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530193B-564F-4854-8A52-728F3FB19C85}" type="slidenum">
              <a:rPr lang="en-US" noProof="0" smtClean="0"/>
              <a:t>‹#›</a:t>
            </a:fld>
            <a:endParaRPr lang="en-US" noProof="0" dirty="0"/>
          </a:p>
        </p:txBody>
      </p:sp>
    </p:spTree>
    <p:extLst>
      <p:ext uri="{BB962C8B-B14F-4D97-AF65-F5344CB8AC3E}">
        <p14:creationId xmlns:p14="http://schemas.microsoft.com/office/powerpoint/2010/main" val="36038165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530193B-564F-4854-8A52-728F3FB19C85}" type="slidenum">
              <a:rPr lang="en-US" noProof="0" smtClean="0"/>
              <a:t>5</a:t>
            </a:fld>
            <a:endParaRPr lang="en-US" noProof="0" dirty="0"/>
          </a:p>
        </p:txBody>
      </p:sp>
    </p:spTree>
    <p:extLst>
      <p:ext uri="{BB962C8B-B14F-4D97-AF65-F5344CB8AC3E}">
        <p14:creationId xmlns:p14="http://schemas.microsoft.com/office/powerpoint/2010/main" val="25079122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70022032"/>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60528460"/>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637669602"/>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B712588-04B1-427B-82EE-E8DB90309F08}" type="datetimeFigureOut">
              <a:rPr lang="en-US" smtClean="0"/>
              <a:t>9/3/2026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FF9F0C5-380F-41C2-899A-BAC0F0927E16}" type="slidenum">
              <a:rPr lang="en-US" smtClean="0"/>
              <a:t>‹#›</a:t>
            </a:fld>
            <a:endParaRPr lang="en-US" dirty="0"/>
          </a:p>
        </p:txBody>
      </p:sp>
    </p:spTree>
    <p:extLst>
      <p:ext uri="{BB962C8B-B14F-4D97-AF65-F5344CB8AC3E}">
        <p14:creationId xmlns:p14="http://schemas.microsoft.com/office/powerpoint/2010/main" val="2397459935"/>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9/3/2026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63239096"/>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9/3/2026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9196543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9/3/2026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086897335"/>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A54C80-263E-416B-A8E0-580EDEADCBDC}" type="datetimeFigureOut">
              <a:rPr lang="en-US" smtClean="0"/>
              <a:t>9/3/2026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smtClean="0"/>
              <a:t>‹#›</a:t>
            </a:fld>
            <a:endParaRPr lang="en-US" dirty="0"/>
          </a:p>
        </p:txBody>
      </p:sp>
    </p:spTree>
    <p:extLst>
      <p:ext uri="{BB962C8B-B14F-4D97-AF65-F5344CB8AC3E}">
        <p14:creationId xmlns:p14="http://schemas.microsoft.com/office/powerpoint/2010/main" val="1589620618"/>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9/3/2026</a:t>
            </a:fld>
            <a:endParaRPr lang="en-US" dirty="0"/>
          </a:p>
        </p:txBody>
      </p:sp>
    </p:spTree>
    <p:extLst>
      <p:ext uri="{BB962C8B-B14F-4D97-AF65-F5344CB8AC3E}">
        <p14:creationId xmlns:p14="http://schemas.microsoft.com/office/powerpoint/2010/main" val="3530304514"/>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38109717"/>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322563127"/>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2847825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926250616"/>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33561930"/>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smtClean="0"/>
              <a:t>9/3/2026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smtClean="0"/>
              <a:t>‹#›</a:t>
            </a:fld>
            <a:endParaRPr lang="en-US" dirty="0"/>
          </a:p>
        </p:txBody>
      </p:sp>
    </p:spTree>
    <p:extLst>
      <p:ext uri="{BB962C8B-B14F-4D97-AF65-F5344CB8AC3E}">
        <p14:creationId xmlns:p14="http://schemas.microsoft.com/office/powerpoint/2010/main" val="877920135"/>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5619384"/>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Quote">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id="{6FDA3C6F-5F6A-4D64-8BFE-AFFF58B1A047}"/>
              </a:ext>
            </a:extLst>
          </p:cNvPr>
          <p:cNvSpPr>
            <a:spLocks noGrp="1"/>
          </p:cNvSpPr>
          <p:nvPr>
            <p:ph type="body" sz="quarter" idx="11"/>
          </p:nvPr>
        </p:nvSpPr>
        <p:spPr>
          <a:xfrm>
            <a:off x="6312871" y="4141999"/>
            <a:ext cx="4220845" cy="861497"/>
          </a:xfrm>
          <a:prstGeom prst="rect">
            <a:avLst/>
          </a:prstGeom>
        </p:spPr>
        <p:txBody>
          <a:bodyPr/>
          <a:lstStyle>
            <a:lvl1pPr marL="0" indent="0">
              <a:buNone/>
              <a:defRPr sz="2000" b="1">
                <a:solidFill>
                  <a:schemeClr val="accent4"/>
                </a:solidFill>
                <a:latin typeface="+mj-lt"/>
              </a:defRPr>
            </a:lvl1pPr>
            <a:lvl2pPr>
              <a:buNone/>
              <a:defRPr sz="2000"/>
            </a:lvl2pPr>
          </a:lstStyle>
          <a:p>
            <a:pPr lvl="0"/>
            <a:r>
              <a:rPr lang="en-US"/>
              <a:t>Click to edit Master text styles</a:t>
            </a:r>
          </a:p>
          <a:p>
            <a:pPr lvl="1"/>
            <a:r>
              <a:rPr lang="en-US"/>
              <a:t>Second level</a:t>
            </a:r>
          </a:p>
        </p:txBody>
      </p:sp>
      <p:sp>
        <p:nvSpPr>
          <p:cNvPr id="15" name="Hexagon 14">
            <a:extLst>
              <a:ext uri="{FF2B5EF4-FFF2-40B4-BE49-F238E27FC236}">
                <a16:creationId xmlns:a16="http://schemas.microsoft.com/office/drawing/2014/main" id="{AC159667-7690-4645-986D-BE501438455F}"/>
              </a:ext>
            </a:extLst>
          </p:cNvPr>
          <p:cNvSpPr/>
          <p:nvPr userDrawn="1"/>
        </p:nvSpPr>
        <p:spPr>
          <a:xfrm>
            <a:off x="740309" y="1382809"/>
            <a:ext cx="1229566" cy="1059971"/>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Hexagon 15">
            <a:extLst>
              <a:ext uri="{FF2B5EF4-FFF2-40B4-BE49-F238E27FC236}">
                <a16:creationId xmlns:a16="http://schemas.microsoft.com/office/drawing/2014/main" id="{54667EE4-E77F-453B-BF8B-B1EE2AE80715}"/>
              </a:ext>
            </a:extLst>
          </p:cNvPr>
          <p:cNvSpPr/>
          <p:nvPr userDrawn="1"/>
        </p:nvSpPr>
        <p:spPr>
          <a:xfrm>
            <a:off x="3755031" y="1194620"/>
            <a:ext cx="1666162" cy="1436347"/>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Hexagon 16">
            <a:extLst>
              <a:ext uri="{FF2B5EF4-FFF2-40B4-BE49-F238E27FC236}">
                <a16:creationId xmlns:a16="http://schemas.microsoft.com/office/drawing/2014/main" id="{FC050232-A229-425F-BFC8-D50374F2D171}"/>
              </a:ext>
            </a:extLst>
          </p:cNvPr>
          <p:cNvSpPr/>
          <p:nvPr userDrawn="1"/>
        </p:nvSpPr>
        <p:spPr>
          <a:xfrm>
            <a:off x="3804994" y="5233183"/>
            <a:ext cx="718261" cy="619191"/>
          </a:xfrm>
          <a:prstGeom prst="hexagon">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Hexagon 17">
            <a:extLst>
              <a:ext uri="{FF2B5EF4-FFF2-40B4-BE49-F238E27FC236}">
                <a16:creationId xmlns:a16="http://schemas.microsoft.com/office/drawing/2014/main" id="{53E4EBC7-340A-43A5-9E23-4B73A6F700B6}"/>
              </a:ext>
            </a:extLst>
          </p:cNvPr>
          <p:cNvSpPr/>
          <p:nvPr userDrawn="1"/>
        </p:nvSpPr>
        <p:spPr>
          <a:xfrm>
            <a:off x="1837838" y="1101306"/>
            <a:ext cx="651613" cy="561736"/>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Picture Placeholder 18">
            <a:extLst>
              <a:ext uri="{FF2B5EF4-FFF2-40B4-BE49-F238E27FC236}">
                <a16:creationId xmlns:a16="http://schemas.microsoft.com/office/drawing/2014/main" id="{1ED0E31A-F0A3-481D-8D9C-E3C4531FD21D}"/>
              </a:ext>
            </a:extLst>
          </p:cNvPr>
          <p:cNvSpPr>
            <a:spLocks noGrp="1"/>
          </p:cNvSpPr>
          <p:nvPr>
            <p:ph type="pic" sz="quarter" idx="12"/>
          </p:nvPr>
        </p:nvSpPr>
        <p:spPr>
          <a:xfrm>
            <a:off x="1571515" y="1914044"/>
            <a:ext cx="3993624" cy="3617848"/>
          </a:xfrm>
          <a:custGeom>
            <a:avLst/>
            <a:gdLst>
              <a:gd name="connsiteX0" fmla="*/ 1223161 w 3993624"/>
              <a:gd name="connsiteY0" fmla="*/ 2354088 h 3617848"/>
              <a:gd name="connsiteX1" fmla="*/ 2057242 w 3993624"/>
              <a:gd name="connsiteY1" fmla="*/ 2354088 h 3617848"/>
              <a:gd name="connsiteX2" fmla="*/ 2373182 w 3993624"/>
              <a:gd name="connsiteY2" fmla="*/ 2985968 h 3617848"/>
              <a:gd name="connsiteX3" fmla="*/ 2057242 w 3993624"/>
              <a:gd name="connsiteY3" fmla="*/ 3617848 h 3617848"/>
              <a:gd name="connsiteX4" fmla="*/ 1223161 w 3993624"/>
              <a:gd name="connsiteY4" fmla="*/ 3617848 h 3617848"/>
              <a:gd name="connsiteX5" fmla="*/ 907221 w 3993624"/>
              <a:gd name="connsiteY5" fmla="*/ 2985968 h 3617848"/>
              <a:gd name="connsiteX6" fmla="*/ 2569631 w 3993624"/>
              <a:gd name="connsiteY6" fmla="*/ 1425984 h 3617848"/>
              <a:gd name="connsiteX7" fmla="*/ 3602417 w 3993624"/>
              <a:gd name="connsiteY7" fmla="*/ 1425984 h 3617848"/>
              <a:gd name="connsiteX8" fmla="*/ 3993624 w 3993624"/>
              <a:gd name="connsiteY8" fmla="*/ 2208398 h 3617848"/>
              <a:gd name="connsiteX9" fmla="*/ 3602417 w 3993624"/>
              <a:gd name="connsiteY9" fmla="*/ 2990812 h 3617848"/>
              <a:gd name="connsiteX10" fmla="*/ 2569631 w 3993624"/>
              <a:gd name="connsiteY10" fmla="*/ 2990812 h 3617848"/>
              <a:gd name="connsiteX11" fmla="*/ 2178424 w 3993624"/>
              <a:gd name="connsiteY11" fmla="*/ 2208398 h 3617848"/>
              <a:gd name="connsiteX12" fmla="*/ 551406 w 3993624"/>
              <a:gd name="connsiteY12" fmla="*/ 0 h 3617848"/>
              <a:gd name="connsiteX13" fmla="*/ 2007117 w 3993624"/>
              <a:gd name="connsiteY13" fmla="*/ 0 h 3617848"/>
              <a:gd name="connsiteX14" fmla="*/ 2558523 w 3993624"/>
              <a:gd name="connsiteY14" fmla="*/ 1102811 h 3617848"/>
              <a:gd name="connsiteX15" fmla="*/ 2007117 w 3993624"/>
              <a:gd name="connsiteY15" fmla="*/ 2205622 h 3617848"/>
              <a:gd name="connsiteX16" fmla="*/ 551406 w 3993624"/>
              <a:gd name="connsiteY16" fmla="*/ 2205622 h 3617848"/>
              <a:gd name="connsiteX17" fmla="*/ 0 w 3993624"/>
              <a:gd name="connsiteY17" fmla="*/ 1102811 h 36178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993624" h="3617848">
                <a:moveTo>
                  <a:pt x="1223161" y="2354088"/>
                </a:moveTo>
                <a:lnTo>
                  <a:pt x="2057242" y="2354088"/>
                </a:lnTo>
                <a:lnTo>
                  <a:pt x="2373182" y="2985968"/>
                </a:lnTo>
                <a:lnTo>
                  <a:pt x="2057242" y="3617848"/>
                </a:lnTo>
                <a:lnTo>
                  <a:pt x="1223161" y="3617848"/>
                </a:lnTo>
                <a:lnTo>
                  <a:pt x="907221" y="2985968"/>
                </a:lnTo>
                <a:close/>
                <a:moveTo>
                  <a:pt x="2569631" y="1425984"/>
                </a:moveTo>
                <a:lnTo>
                  <a:pt x="3602417" y="1425984"/>
                </a:lnTo>
                <a:lnTo>
                  <a:pt x="3993624" y="2208398"/>
                </a:lnTo>
                <a:lnTo>
                  <a:pt x="3602417" y="2990812"/>
                </a:lnTo>
                <a:lnTo>
                  <a:pt x="2569631" y="2990812"/>
                </a:lnTo>
                <a:lnTo>
                  <a:pt x="2178424" y="2208398"/>
                </a:lnTo>
                <a:close/>
                <a:moveTo>
                  <a:pt x="551406" y="0"/>
                </a:moveTo>
                <a:lnTo>
                  <a:pt x="2007117" y="0"/>
                </a:lnTo>
                <a:lnTo>
                  <a:pt x="2558523" y="1102811"/>
                </a:lnTo>
                <a:lnTo>
                  <a:pt x="2007117" y="2205622"/>
                </a:lnTo>
                <a:lnTo>
                  <a:pt x="551406" y="2205622"/>
                </a:lnTo>
                <a:lnTo>
                  <a:pt x="0" y="1102811"/>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03E68100-C56F-4515-A4FD-3F301797E78F}"/>
              </a:ext>
            </a:extLst>
          </p:cNvPr>
          <p:cNvSpPr>
            <a:spLocks noGrp="1"/>
          </p:cNvSpPr>
          <p:nvPr>
            <p:ph type="title"/>
          </p:nvPr>
        </p:nvSpPr>
        <p:spPr>
          <a:xfrm>
            <a:off x="6312871" y="2050552"/>
            <a:ext cx="4998720" cy="1748983"/>
          </a:xfrm>
          <a:prstGeom prst="rect">
            <a:avLst/>
          </a:prstGeom>
        </p:spPr>
        <p:txBody>
          <a:bodyPr/>
          <a:lstStyle>
            <a:lvl1pPr>
              <a:defRPr sz="2800">
                <a:solidFill>
                  <a:schemeClr val="tx1"/>
                </a:solidFill>
                <a:latin typeface="+mn-lt"/>
              </a:defRPr>
            </a:lvl1pPr>
          </a:lstStyle>
          <a:p>
            <a:r>
              <a:rPr lang="en-US"/>
              <a:t>Click to edit Master title style</a:t>
            </a:r>
          </a:p>
        </p:txBody>
      </p:sp>
    </p:spTree>
    <p:extLst>
      <p:ext uri="{BB962C8B-B14F-4D97-AF65-F5344CB8AC3E}">
        <p14:creationId xmlns:p14="http://schemas.microsoft.com/office/powerpoint/2010/main" val="1409194673"/>
      </p:ext>
    </p:extLst>
  </p:cSld>
  <p:clrMapOvr>
    <a:masterClrMapping/>
  </p:clrMapOvr>
  <p:extLst>
    <p:ext uri="{DCECCB84-F9BA-43D5-87BE-67443E8EF086}">
      <p15:sldGuideLst xmlns:p15="http://schemas.microsoft.com/office/powerpoint/2012/main">
        <p15:guide id="1" orient="horz" pos="1272">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Introduction">
    <p:spTree>
      <p:nvGrpSpPr>
        <p:cNvPr id="1" name=""/>
        <p:cNvGrpSpPr/>
        <p:nvPr/>
      </p:nvGrpSpPr>
      <p:grpSpPr>
        <a:xfrm>
          <a:off x="0" y="0"/>
          <a:ext cx="0" cy="0"/>
          <a:chOff x="0" y="0"/>
          <a:chExt cx="0" cy="0"/>
        </a:xfrm>
      </p:grpSpPr>
      <p:sp>
        <p:nvSpPr>
          <p:cNvPr id="10" name="Oval 9">
            <a:extLst>
              <a:ext uri="{FF2B5EF4-FFF2-40B4-BE49-F238E27FC236}">
                <a16:creationId xmlns:a16="http://schemas.microsoft.com/office/drawing/2014/main" id="{24FAA9D0-7C9C-4043-9931-A15819ABB9B5}"/>
              </a:ext>
            </a:extLst>
          </p:cNvPr>
          <p:cNvSpPr/>
          <p:nvPr userDrawn="1"/>
        </p:nvSpPr>
        <p:spPr>
          <a:xfrm>
            <a:off x="7362825" y="443263"/>
            <a:ext cx="361950" cy="36195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4" name="Oval 13">
            <a:extLst>
              <a:ext uri="{FF2B5EF4-FFF2-40B4-BE49-F238E27FC236}">
                <a16:creationId xmlns:a16="http://schemas.microsoft.com/office/drawing/2014/main" id="{E232AB2D-843E-4B5F-8793-6A263DA356BB}"/>
              </a:ext>
            </a:extLst>
          </p:cNvPr>
          <p:cNvSpPr/>
          <p:nvPr userDrawn="1"/>
        </p:nvSpPr>
        <p:spPr>
          <a:xfrm>
            <a:off x="11007246" y="5605994"/>
            <a:ext cx="654227" cy="654227"/>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6" name="Oval 15">
            <a:extLst>
              <a:ext uri="{FF2B5EF4-FFF2-40B4-BE49-F238E27FC236}">
                <a16:creationId xmlns:a16="http://schemas.microsoft.com/office/drawing/2014/main" id="{FA75A12B-C399-4072-BD69-D872D2C2AD1F}"/>
              </a:ext>
            </a:extLst>
          </p:cNvPr>
          <p:cNvSpPr/>
          <p:nvPr userDrawn="1"/>
        </p:nvSpPr>
        <p:spPr>
          <a:xfrm>
            <a:off x="10683791" y="6132439"/>
            <a:ext cx="251152" cy="251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23" name="Picture Placeholder 22">
            <a:extLst>
              <a:ext uri="{FF2B5EF4-FFF2-40B4-BE49-F238E27FC236}">
                <a16:creationId xmlns:a16="http://schemas.microsoft.com/office/drawing/2014/main" id="{423AE48B-50E9-4BEA-B66A-B2D2B9CCFE9C}"/>
              </a:ext>
            </a:extLst>
          </p:cNvPr>
          <p:cNvSpPr>
            <a:spLocks noGrp="1"/>
          </p:cNvSpPr>
          <p:nvPr>
            <p:ph type="pic" sz="quarter" idx="10"/>
          </p:nvPr>
        </p:nvSpPr>
        <p:spPr>
          <a:xfrm>
            <a:off x="5733416" y="624239"/>
            <a:ext cx="5855754" cy="5631571"/>
          </a:xfrm>
          <a:custGeom>
            <a:avLst/>
            <a:gdLst>
              <a:gd name="connsiteX0" fmla="*/ 3433020 w 5855754"/>
              <a:gd name="connsiteY0" fmla="*/ 786103 h 5631571"/>
              <a:gd name="connsiteX1" fmla="*/ 5855754 w 5855754"/>
              <a:gd name="connsiteY1" fmla="*/ 3208837 h 5631571"/>
              <a:gd name="connsiteX2" fmla="*/ 3433020 w 5855754"/>
              <a:gd name="connsiteY2" fmla="*/ 5631571 h 5631571"/>
              <a:gd name="connsiteX3" fmla="*/ 1010286 w 5855754"/>
              <a:gd name="connsiteY3" fmla="*/ 3208837 h 5631571"/>
              <a:gd name="connsiteX4" fmla="*/ 3433020 w 5855754"/>
              <a:gd name="connsiteY4" fmla="*/ 786103 h 5631571"/>
              <a:gd name="connsiteX5" fmla="*/ 828675 w 5855754"/>
              <a:gd name="connsiteY5" fmla="*/ 0 h 5631571"/>
              <a:gd name="connsiteX6" fmla="*/ 1657350 w 5855754"/>
              <a:gd name="connsiteY6" fmla="*/ 828675 h 5631571"/>
              <a:gd name="connsiteX7" fmla="*/ 828675 w 5855754"/>
              <a:gd name="connsiteY7" fmla="*/ 1657350 h 5631571"/>
              <a:gd name="connsiteX8" fmla="*/ 0 w 5855754"/>
              <a:gd name="connsiteY8" fmla="*/ 828675 h 5631571"/>
              <a:gd name="connsiteX9" fmla="*/ 828675 w 5855754"/>
              <a:gd name="connsiteY9" fmla="*/ 0 h 5631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55754" h="5631571">
                <a:moveTo>
                  <a:pt x="3433020" y="786103"/>
                </a:moveTo>
                <a:cubicBezTo>
                  <a:pt x="4771059" y="786103"/>
                  <a:pt x="5855754" y="1870798"/>
                  <a:pt x="5855754" y="3208837"/>
                </a:cubicBezTo>
                <a:cubicBezTo>
                  <a:pt x="5855754" y="4546876"/>
                  <a:pt x="4771059" y="5631571"/>
                  <a:pt x="3433020" y="5631571"/>
                </a:cubicBezTo>
                <a:cubicBezTo>
                  <a:pt x="2094981" y="5631571"/>
                  <a:pt x="1010286" y="4546876"/>
                  <a:pt x="1010286" y="3208837"/>
                </a:cubicBezTo>
                <a:cubicBezTo>
                  <a:pt x="1010286" y="1870798"/>
                  <a:pt x="2094981" y="786103"/>
                  <a:pt x="3433020" y="786103"/>
                </a:cubicBezTo>
                <a:close/>
                <a:moveTo>
                  <a:pt x="828675" y="0"/>
                </a:moveTo>
                <a:cubicBezTo>
                  <a:pt x="1286340" y="0"/>
                  <a:pt x="1657350" y="371010"/>
                  <a:pt x="1657350" y="828675"/>
                </a:cubicBezTo>
                <a:cubicBezTo>
                  <a:pt x="1657350" y="1286340"/>
                  <a:pt x="1286340" y="1657350"/>
                  <a:pt x="828675" y="1657350"/>
                </a:cubicBezTo>
                <a:cubicBezTo>
                  <a:pt x="371010" y="1657350"/>
                  <a:pt x="0" y="1286340"/>
                  <a:pt x="0" y="828675"/>
                </a:cubicBezTo>
                <a:cubicBezTo>
                  <a:pt x="0" y="371010"/>
                  <a:pt x="371010" y="0"/>
                  <a:pt x="828675" y="0"/>
                </a:cubicBezTo>
                <a:close/>
              </a:path>
            </a:pathLst>
          </a:custGeom>
        </p:spPr>
        <p:txBody>
          <a:bodyPr wrap="square" anchor="ctr">
            <a:noAutofit/>
          </a:bodyPr>
          <a:lstStyle>
            <a:lvl1pPr algn="ctr">
              <a:buNone/>
              <a:defRPr/>
            </a:lvl1pPr>
          </a:lstStyle>
          <a:p>
            <a:r>
              <a:rPr lang="en-US"/>
              <a:t>Click icon to add picture</a:t>
            </a:r>
            <a:endParaRPr lang="en-US" dirty="0"/>
          </a:p>
        </p:txBody>
      </p:sp>
      <p:sp>
        <p:nvSpPr>
          <p:cNvPr id="27" name="Text Placeholder 26">
            <a:extLst>
              <a:ext uri="{FF2B5EF4-FFF2-40B4-BE49-F238E27FC236}">
                <a16:creationId xmlns:a16="http://schemas.microsoft.com/office/drawing/2014/main" id="{282D3E62-6D1A-4E9D-BE54-2EED9BF429A4}"/>
              </a:ext>
            </a:extLst>
          </p:cNvPr>
          <p:cNvSpPr>
            <a:spLocks noGrp="1"/>
          </p:cNvSpPr>
          <p:nvPr>
            <p:ph type="body" sz="quarter" idx="12"/>
          </p:nvPr>
        </p:nvSpPr>
        <p:spPr>
          <a:xfrm>
            <a:off x="660400" y="2044700"/>
            <a:ext cx="4275138" cy="3560763"/>
          </a:xfrm>
          <a:prstGeom prst="rect">
            <a:avLst/>
          </a:prstGeom>
        </p:spPr>
        <p:txBody>
          <a:bodyPr/>
          <a:lstStyle>
            <a:lvl1pPr>
              <a:lnSpc>
                <a:spcPct val="150000"/>
              </a:lnSpc>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2000"/>
            </a:lvl2pPr>
            <a:lvl3pPr>
              <a:buClr>
                <a:schemeClr val="accent4"/>
              </a:buClr>
              <a:buFont typeface="Wingdings" panose="05000000000000000000" pitchFamily="2" charset="2"/>
              <a:buChar char="§"/>
              <a:defRPr sz="1800"/>
            </a:lvl3pPr>
            <a:lvl4pPr>
              <a:buClr>
                <a:schemeClr val="accent4"/>
              </a:buClr>
              <a:buFont typeface="Wingdings" panose="05000000000000000000" pitchFamily="2" charset="2"/>
              <a:buChar char="§"/>
              <a:defRPr sz="1800"/>
            </a:lvl4pPr>
            <a:lvl5pPr>
              <a:buClr>
                <a:schemeClr val="accent4"/>
              </a:buClr>
              <a:buFont typeface="Wingdings" panose="05000000000000000000" pitchFamily="2" charset="2"/>
              <a:buChar char="§"/>
              <a:defRPr sz="1800"/>
            </a:lvl5pPr>
          </a:lstStyle>
          <a:p>
            <a:pPr lvl="0"/>
            <a:r>
              <a:rPr lang="en-US"/>
              <a:t>Click to edit Master text styles</a:t>
            </a:r>
          </a:p>
        </p:txBody>
      </p:sp>
      <p:sp>
        <p:nvSpPr>
          <p:cNvPr id="8" name="Title 1">
            <a:extLst>
              <a:ext uri="{FF2B5EF4-FFF2-40B4-BE49-F238E27FC236}">
                <a16:creationId xmlns:a16="http://schemas.microsoft.com/office/drawing/2014/main" id="{DEB8F0E5-B89F-48AD-87BD-534EA9463CD3}"/>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75139580"/>
      </p:ext>
    </p:extLst>
  </p:cSld>
  <p:clrMapOvr>
    <a:masterClrMapping/>
  </p:clrMapOvr>
  <p:extLst>
    <p:ext uri="{DCECCB84-F9BA-43D5-87BE-67443E8EF086}">
      <p15:sldGuideLst xmlns:p15="http://schemas.microsoft.com/office/powerpoint/2012/main">
        <p15:guide id="1" orient="horz" pos="216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Agenda">
    <p:spTree>
      <p:nvGrpSpPr>
        <p:cNvPr id="1" name=""/>
        <p:cNvGrpSpPr/>
        <p:nvPr/>
      </p:nvGrpSpPr>
      <p:grpSpPr>
        <a:xfrm>
          <a:off x="0" y="0"/>
          <a:ext cx="0" cy="0"/>
          <a:chOff x="0" y="0"/>
          <a:chExt cx="0" cy="0"/>
        </a:xfrm>
      </p:grpSpPr>
      <p:sp>
        <p:nvSpPr>
          <p:cNvPr id="10" name="Text Placeholder 26">
            <a:extLst>
              <a:ext uri="{FF2B5EF4-FFF2-40B4-BE49-F238E27FC236}">
                <a16:creationId xmlns:a16="http://schemas.microsoft.com/office/drawing/2014/main" id="{4AA38E8C-A334-4183-8ABC-112B8517F487}"/>
              </a:ext>
            </a:extLst>
          </p:cNvPr>
          <p:cNvSpPr>
            <a:spLocks noGrp="1"/>
          </p:cNvSpPr>
          <p:nvPr>
            <p:ph type="body" sz="quarter" idx="12"/>
          </p:nvPr>
        </p:nvSpPr>
        <p:spPr>
          <a:xfrm>
            <a:off x="660400" y="2044700"/>
            <a:ext cx="4275138" cy="3560763"/>
          </a:xfrm>
          <a:prstGeom prst="rect">
            <a:avLst/>
          </a:prstGeom>
        </p:spPr>
        <p:txBody>
          <a:bodyPr/>
          <a:lstStyle>
            <a:lvl1pPr>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1800"/>
            </a:lvl2pPr>
            <a:lvl3pPr>
              <a:buClr>
                <a:schemeClr val="accent4"/>
              </a:buClr>
              <a:buFont typeface="Wingdings" panose="05000000000000000000" pitchFamily="2" charset="2"/>
              <a:buChar char="§"/>
              <a:defRPr sz="1600"/>
            </a:lvl3pPr>
            <a:lvl4pPr>
              <a:buClr>
                <a:schemeClr val="accent4"/>
              </a:buClr>
              <a:buFont typeface="Wingdings" panose="05000000000000000000" pitchFamily="2" charset="2"/>
              <a:buChar char="§"/>
              <a:defRPr sz="1600"/>
            </a:lvl4pPr>
            <a:lvl5pPr>
              <a:buClr>
                <a:schemeClr val="accent4"/>
              </a:buClr>
              <a:buFont typeface="Wingdings" panose="05000000000000000000" pitchFamily="2" charset="2"/>
              <a:buChar char="§"/>
              <a:defRPr sz="1600"/>
            </a:lvl5pPr>
          </a:lstStyle>
          <a:p>
            <a:pPr lvl="0"/>
            <a:r>
              <a:rPr lang="en-US"/>
              <a:t>Click to edit Master text styles</a:t>
            </a:r>
          </a:p>
        </p:txBody>
      </p:sp>
      <p:sp>
        <p:nvSpPr>
          <p:cNvPr id="19" name="Rectangle 18">
            <a:extLst>
              <a:ext uri="{FF2B5EF4-FFF2-40B4-BE49-F238E27FC236}">
                <a16:creationId xmlns:a16="http://schemas.microsoft.com/office/drawing/2014/main" id="{B80624A4-5116-4AAF-8C31-C25D1DB16FEC}"/>
              </a:ext>
            </a:extLst>
          </p:cNvPr>
          <p:cNvSpPr/>
          <p:nvPr userDrawn="1"/>
        </p:nvSpPr>
        <p:spPr>
          <a:xfrm>
            <a:off x="9354457" y="5363987"/>
            <a:ext cx="457200" cy="4572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1D07EC8A-6024-4DEA-9C4D-AE4228E17854}"/>
              </a:ext>
            </a:extLst>
          </p:cNvPr>
          <p:cNvSpPr/>
          <p:nvPr userDrawn="1"/>
        </p:nvSpPr>
        <p:spPr>
          <a:xfrm>
            <a:off x="6692791" y="1699889"/>
            <a:ext cx="319749" cy="31974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D1C8FAEF-DF78-48CC-AEEF-F9B802055C05}"/>
              </a:ext>
            </a:extLst>
          </p:cNvPr>
          <p:cNvSpPr/>
          <p:nvPr userDrawn="1"/>
        </p:nvSpPr>
        <p:spPr>
          <a:xfrm>
            <a:off x="9354457" y="5897738"/>
            <a:ext cx="179977" cy="17997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Picture Placeholder 10">
            <a:extLst>
              <a:ext uri="{FF2B5EF4-FFF2-40B4-BE49-F238E27FC236}">
                <a16:creationId xmlns:a16="http://schemas.microsoft.com/office/drawing/2014/main" id="{566F72D6-AEEE-4CF3-8136-F6782F1E489E}"/>
              </a:ext>
            </a:extLst>
          </p:cNvPr>
          <p:cNvSpPr>
            <a:spLocks noGrp="1"/>
          </p:cNvSpPr>
          <p:nvPr>
            <p:ph type="pic" sz="quarter" idx="13"/>
          </p:nvPr>
        </p:nvSpPr>
        <p:spPr>
          <a:xfrm>
            <a:off x="7090227" y="786181"/>
            <a:ext cx="4441372" cy="5393036"/>
          </a:xfrm>
          <a:custGeom>
            <a:avLst/>
            <a:gdLst>
              <a:gd name="connsiteX0" fmla="*/ 0 w 4441372"/>
              <a:gd name="connsiteY0" fmla="*/ 3188969 h 5393036"/>
              <a:gd name="connsiteX1" fmla="*/ 2173516 w 4441372"/>
              <a:gd name="connsiteY1" fmla="*/ 3188969 h 5393036"/>
              <a:gd name="connsiteX2" fmla="*/ 2173516 w 4441372"/>
              <a:gd name="connsiteY2" fmla="*/ 5393036 h 5393036"/>
              <a:gd name="connsiteX3" fmla="*/ 0 w 4441372"/>
              <a:gd name="connsiteY3" fmla="*/ 5393036 h 5393036"/>
              <a:gd name="connsiteX4" fmla="*/ 2267856 w 4441372"/>
              <a:gd name="connsiteY4" fmla="*/ 2293018 h 5393036"/>
              <a:gd name="connsiteX5" fmla="*/ 4441372 w 4441372"/>
              <a:gd name="connsiteY5" fmla="*/ 2293018 h 5393036"/>
              <a:gd name="connsiteX6" fmla="*/ 4441372 w 4441372"/>
              <a:gd name="connsiteY6" fmla="*/ 4497085 h 5393036"/>
              <a:gd name="connsiteX7" fmla="*/ 2267856 w 4441372"/>
              <a:gd name="connsiteY7" fmla="*/ 4497085 h 5393036"/>
              <a:gd name="connsiteX8" fmla="*/ 0 w 4441372"/>
              <a:gd name="connsiteY8" fmla="*/ 906837 h 5393036"/>
              <a:gd name="connsiteX9" fmla="*/ 2173516 w 4441372"/>
              <a:gd name="connsiteY9" fmla="*/ 906837 h 5393036"/>
              <a:gd name="connsiteX10" fmla="*/ 2173516 w 4441372"/>
              <a:gd name="connsiteY10" fmla="*/ 3110904 h 5393036"/>
              <a:gd name="connsiteX11" fmla="*/ 0 w 4441372"/>
              <a:gd name="connsiteY11" fmla="*/ 3110904 h 5393036"/>
              <a:gd name="connsiteX12" fmla="*/ 2267856 w 4441372"/>
              <a:gd name="connsiteY12" fmla="*/ 0 h 5393036"/>
              <a:gd name="connsiteX13" fmla="*/ 4441372 w 4441372"/>
              <a:gd name="connsiteY13" fmla="*/ 0 h 5393036"/>
              <a:gd name="connsiteX14" fmla="*/ 4441372 w 4441372"/>
              <a:gd name="connsiteY14" fmla="*/ 2204067 h 5393036"/>
              <a:gd name="connsiteX15" fmla="*/ 2267856 w 4441372"/>
              <a:gd name="connsiteY15" fmla="*/ 2204067 h 5393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41372" h="5393036">
                <a:moveTo>
                  <a:pt x="0" y="3188969"/>
                </a:moveTo>
                <a:lnTo>
                  <a:pt x="2173516" y="3188969"/>
                </a:lnTo>
                <a:lnTo>
                  <a:pt x="2173516" y="5393036"/>
                </a:lnTo>
                <a:lnTo>
                  <a:pt x="0" y="5393036"/>
                </a:lnTo>
                <a:close/>
                <a:moveTo>
                  <a:pt x="2267856" y="2293018"/>
                </a:moveTo>
                <a:lnTo>
                  <a:pt x="4441372" y="2293018"/>
                </a:lnTo>
                <a:lnTo>
                  <a:pt x="4441372" y="4497085"/>
                </a:lnTo>
                <a:lnTo>
                  <a:pt x="2267856" y="4497085"/>
                </a:lnTo>
                <a:close/>
                <a:moveTo>
                  <a:pt x="0" y="906837"/>
                </a:moveTo>
                <a:lnTo>
                  <a:pt x="2173516" y="906837"/>
                </a:lnTo>
                <a:lnTo>
                  <a:pt x="2173516" y="3110904"/>
                </a:lnTo>
                <a:lnTo>
                  <a:pt x="0" y="3110904"/>
                </a:lnTo>
                <a:close/>
                <a:moveTo>
                  <a:pt x="2267856" y="0"/>
                </a:moveTo>
                <a:lnTo>
                  <a:pt x="4441372" y="0"/>
                </a:lnTo>
                <a:lnTo>
                  <a:pt x="4441372" y="2204067"/>
                </a:lnTo>
                <a:lnTo>
                  <a:pt x="2267856" y="2204067"/>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459DADC7-BE21-4434-A6E4-BAF809005389}"/>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1591254852"/>
      </p:ext>
    </p:extLst>
  </p:cSld>
  <p:clrMapOvr>
    <a:masterClrMapping/>
  </p:clrMapOvr>
  <p:extLst>
    <p:ext uri="{DCECCB84-F9BA-43D5-87BE-67443E8EF086}">
      <p15:sldGuideLst xmlns:p15="http://schemas.microsoft.com/office/powerpoint/2012/main">
        <p15:guide id="1" orient="horz" pos="504">
          <p15:clr>
            <a:srgbClr val="FBAE40"/>
          </p15:clr>
        </p15:guide>
        <p15:guide id="2" pos="3840">
          <p15:clr>
            <a:srgbClr val="FBAE40"/>
          </p15:clr>
        </p15:guide>
        <p15:guide id="3" orient="horz" pos="1416">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Team">
    <p:spTree>
      <p:nvGrpSpPr>
        <p:cNvPr id="1" name=""/>
        <p:cNvGrpSpPr/>
        <p:nvPr/>
      </p:nvGrpSpPr>
      <p:grpSpPr>
        <a:xfrm>
          <a:off x="0" y="0"/>
          <a:ext cx="0" cy="0"/>
          <a:chOff x="0" y="0"/>
          <a:chExt cx="0" cy="0"/>
        </a:xfrm>
      </p:grpSpPr>
      <p:sp>
        <p:nvSpPr>
          <p:cNvPr id="39" name="Picture Placeholder 38">
            <a:extLst>
              <a:ext uri="{FF2B5EF4-FFF2-40B4-BE49-F238E27FC236}">
                <a16:creationId xmlns:a16="http://schemas.microsoft.com/office/drawing/2014/main" id="{CF421413-161E-4B36-B693-FB38DF14EDAB}"/>
              </a:ext>
            </a:extLst>
          </p:cNvPr>
          <p:cNvSpPr>
            <a:spLocks noGrp="1"/>
          </p:cNvSpPr>
          <p:nvPr>
            <p:ph type="pic" sz="quarter" idx="22"/>
          </p:nvPr>
        </p:nvSpPr>
        <p:spPr>
          <a:xfrm>
            <a:off x="5353508"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38" name="Picture Placeholder 37">
            <a:extLst>
              <a:ext uri="{FF2B5EF4-FFF2-40B4-BE49-F238E27FC236}">
                <a16:creationId xmlns:a16="http://schemas.microsoft.com/office/drawing/2014/main" id="{B5D207AE-9C9C-410A-9F31-2402BAD6DDFF}"/>
              </a:ext>
            </a:extLst>
          </p:cNvPr>
          <p:cNvSpPr>
            <a:spLocks noGrp="1"/>
          </p:cNvSpPr>
          <p:nvPr>
            <p:ph type="pic" sz="quarter" idx="21"/>
          </p:nvPr>
        </p:nvSpPr>
        <p:spPr>
          <a:xfrm>
            <a:off x="311592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0" name="Picture Placeholder 39">
            <a:extLst>
              <a:ext uri="{FF2B5EF4-FFF2-40B4-BE49-F238E27FC236}">
                <a16:creationId xmlns:a16="http://schemas.microsoft.com/office/drawing/2014/main" id="{DE3344FC-C4DE-481F-9C31-667EDD563C47}"/>
              </a:ext>
            </a:extLst>
          </p:cNvPr>
          <p:cNvSpPr>
            <a:spLocks noGrp="1"/>
          </p:cNvSpPr>
          <p:nvPr>
            <p:ph type="pic" sz="quarter" idx="23"/>
          </p:nvPr>
        </p:nvSpPr>
        <p:spPr>
          <a:xfrm>
            <a:off x="7602465"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1" name="Picture Placeholder 40">
            <a:extLst>
              <a:ext uri="{FF2B5EF4-FFF2-40B4-BE49-F238E27FC236}">
                <a16:creationId xmlns:a16="http://schemas.microsoft.com/office/drawing/2014/main" id="{59094D7D-3613-49C1-BB58-A65B41A9738D}"/>
              </a:ext>
            </a:extLst>
          </p:cNvPr>
          <p:cNvSpPr>
            <a:spLocks noGrp="1"/>
          </p:cNvSpPr>
          <p:nvPr>
            <p:ph type="pic" sz="quarter" idx="24"/>
          </p:nvPr>
        </p:nvSpPr>
        <p:spPr>
          <a:xfrm>
            <a:off x="984005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8" name="Title 1">
            <a:extLst>
              <a:ext uri="{FF2B5EF4-FFF2-40B4-BE49-F238E27FC236}">
                <a16:creationId xmlns:a16="http://schemas.microsoft.com/office/drawing/2014/main" id="{69FE87B7-32A4-4C7F-9AAF-37688E640456}"/>
              </a:ext>
            </a:extLst>
          </p:cNvPr>
          <p:cNvSpPr>
            <a:spLocks noGrp="1"/>
          </p:cNvSpPr>
          <p:nvPr>
            <p:ph type="title"/>
          </p:nvPr>
        </p:nvSpPr>
        <p:spPr>
          <a:xfrm>
            <a:off x="432000" y="647700"/>
            <a:ext cx="11340000" cy="700114"/>
          </a:xfrm>
          <a:prstGeom prst="rect">
            <a:avLst/>
          </a:prstGeom>
        </p:spPr>
        <p:txBody>
          <a:bodyPr anchor="ctr"/>
          <a:lstStyle/>
          <a:p>
            <a:pPr algn="ctr"/>
            <a:r>
              <a:rPr lang="en-US" sz="4800" b="1">
                <a:solidFill>
                  <a:schemeClr val="tx1"/>
                </a:solidFill>
              </a:rPr>
              <a:t>Click to edit Master title style</a:t>
            </a:r>
            <a:endParaRPr lang="en-US" sz="4800" b="1" dirty="0">
              <a:solidFill>
                <a:schemeClr val="tx1"/>
              </a:solidFill>
            </a:endParaRPr>
          </a:p>
        </p:txBody>
      </p:sp>
      <p:sp>
        <p:nvSpPr>
          <p:cNvPr id="9" name="Hexagon 8">
            <a:extLst>
              <a:ext uri="{FF2B5EF4-FFF2-40B4-BE49-F238E27FC236}">
                <a16:creationId xmlns:a16="http://schemas.microsoft.com/office/drawing/2014/main" id="{476CA45F-A66A-4AD8-A004-10DB55A5D7B2}"/>
              </a:ext>
            </a:extLst>
          </p:cNvPr>
          <p:cNvSpPr/>
          <p:nvPr userDrawn="1"/>
        </p:nvSpPr>
        <p:spPr>
          <a:xfrm>
            <a:off x="546669" y="3467555"/>
            <a:ext cx="458268" cy="395059"/>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Hexagon 9">
            <a:extLst>
              <a:ext uri="{FF2B5EF4-FFF2-40B4-BE49-F238E27FC236}">
                <a16:creationId xmlns:a16="http://schemas.microsoft.com/office/drawing/2014/main" id="{27A66A3D-2437-4015-9F5F-380C4D23D83C}"/>
              </a:ext>
            </a:extLst>
          </p:cNvPr>
          <p:cNvSpPr/>
          <p:nvPr userDrawn="1"/>
        </p:nvSpPr>
        <p:spPr>
          <a:xfrm>
            <a:off x="11113337" y="2394722"/>
            <a:ext cx="358391" cy="308958"/>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Hexagon 10">
            <a:extLst>
              <a:ext uri="{FF2B5EF4-FFF2-40B4-BE49-F238E27FC236}">
                <a16:creationId xmlns:a16="http://schemas.microsoft.com/office/drawing/2014/main" id="{FFB14F3B-E7EF-4546-8D74-71FFB45C77C0}"/>
              </a:ext>
            </a:extLst>
          </p:cNvPr>
          <p:cNvSpPr/>
          <p:nvPr userDrawn="1"/>
        </p:nvSpPr>
        <p:spPr>
          <a:xfrm>
            <a:off x="10882649" y="2202202"/>
            <a:ext cx="230688" cy="198869"/>
          </a:xfrm>
          <a:prstGeom prst="hexago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Text Placeholder 22">
            <a:extLst>
              <a:ext uri="{FF2B5EF4-FFF2-40B4-BE49-F238E27FC236}">
                <a16:creationId xmlns:a16="http://schemas.microsoft.com/office/drawing/2014/main" id="{591F943B-ED0D-49A1-844A-E23BA9A4871B}"/>
              </a:ext>
            </a:extLst>
          </p:cNvPr>
          <p:cNvSpPr>
            <a:spLocks noGrp="1"/>
          </p:cNvSpPr>
          <p:nvPr>
            <p:ph type="body" sz="quarter" idx="10"/>
          </p:nvPr>
        </p:nvSpPr>
        <p:spPr>
          <a:xfrm>
            <a:off x="546668"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4" name="Text Placeholder 22">
            <a:extLst>
              <a:ext uri="{FF2B5EF4-FFF2-40B4-BE49-F238E27FC236}">
                <a16:creationId xmlns:a16="http://schemas.microsoft.com/office/drawing/2014/main" id="{9AC6B9A8-053C-4828-B705-901C6018F30D}"/>
              </a:ext>
            </a:extLst>
          </p:cNvPr>
          <p:cNvSpPr>
            <a:spLocks noGrp="1"/>
          </p:cNvSpPr>
          <p:nvPr>
            <p:ph type="body" sz="quarter" idx="11"/>
          </p:nvPr>
        </p:nvSpPr>
        <p:spPr>
          <a:xfrm>
            <a:off x="556692"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7" name="Text Placeholder 22">
            <a:extLst>
              <a:ext uri="{FF2B5EF4-FFF2-40B4-BE49-F238E27FC236}">
                <a16:creationId xmlns:a16="http://schemas.microsoft.com/office/drawing/2014/main" id="{BBA6FD52-E179-41F8-AE78-9AF3D65F28B6}"/>
              </a:ext>
            </a:extLst>
          </p:cNvPr>
          <p:cNvSpPr>
            <a:spLocks noGrp="1"/>
          </p:cNvSpPr>
          <p:nvPr>
            <p:ph type="body" sz="quarter" idx="12"/>
          </p:nvPr>
        </p:nvSpPr>
        <p:spPr>
          <a:xfrm>
            <a:off x="2789482"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8" name="Text Placeholder 22">
            <a:extLst>
              <a:ext uri="{FF2B5EF4-FFF2-40B4-BE49-F238E27FC236}">
                <a16:creationId xmlns:a16="http://schemas.microsoft.com/office/drawing/2014/main" id="{C49A82AB-D328-4DB0-841B-186884119EBF}"/>
              </a:ext>
            </a:extLst>
          </p:cNvPr>
          <p:cNvSpPr>
            <a:spLocks noGrp="1"/>
          </p:cNvSpPr>
          <p:nvPr>
            <p:ph type="body" sz="quarter" idx="13"/>
          </p:nvPr>
        </p:nvSpPr>
        <p:spPr>
          <a:xfrm>
            <a:off x="278948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9" name="Text Placeholder 22">
            <a:extLst>
              <a:ext uri="{FF2B5EF4-FFF2-40B4-BE49-F238E27FC236}">
                <a16:creationId xmlns:a16="http://schemas.microsoft.com/office/drawing/2014/main" id="{84E23D5D-9866-48F9-8E08-DD2DBE4C4E32}"/>
              </a:ext>
            </a:extLst>
          </p:cNvPr>
          <p:cNvSpPr>
            <a:spLocks noGrp="1"/>
          </p:cNvSpPr>
          <p:nvPr>
            <p:ph type="body" sz="quarter" idx="14"/>
          </p:nvPr>
        </p:nvSpPr>
        <p:spPr>
          <a:xfrm>
            <a:off x="5032296"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0" name="Text Placeholder 22">
            <a:extLst>
              <a:ext uri="{FF2B5EF4-FFF2-40B4-BE49-F238E27FC236}">
                <a16:creationId xmlns:a16="http://schemas.microsoft.com/office/drawing/2014/main" id="{E671C9E6-A1A5-4EE5-8642-94AA7635DB05}"/>
              </a:ext>
            </a:extLst>
          </p:cNvPr>
          <p:cNvSpPr>
            <a:spLocks noGrp="1"/>
          </p:cNvSpPr>
          <p:nvPr>
            <p:ph type="body" sz="quarter" idx="15"/>
          </p:nvPr>
        </p:nvSpPr>
        <p:spPr>
          <a:xfrm>
            <a:off x="502920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1" name="Text Placeholder 22">
            <a:extLst>
              <a:ext uri="{FF2B5EF4-FFF2-40B4-BE49-F238E27FC236}">
                <a16:creationId xmlns:a16="http://schemas.microsoft.com/office/drawing/2014/main" id="{DF6BB5C9-B678-435A-830F-4C10EB1A957C}"/>
              </a:ext>
            </a:extLst>
          </p:cNvPr>
          <p:cNvSpPr>
            <a:spLocks noGrp="1"/>
          </p:cNvSpPr>
          <p:nvPr>
            <p:ph type="body" sz="quarter" idx="16"/>
          </p:nvPr>
        </p:nvSpPr>
        <p:spPr>
          <a:xfrm>
            <a:off x="7275110"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2" name="Text Placeholder 22">
            <a:extLst>
              <a:ext uri="{FF2B5EF4-FFF2-40B4-BE49-F238E27FC236}">
                <a16:creationId xmlns:a16="http://schemas.microsoft.com/office/drawing/2014/main" id="{1861EC87-A9E2-4FC3-B8BC-06C520B8A17F}"/>
              </a:ext>
            </a:extLst>
          </p:cNvPr>
          <p:cNvSpPr>
            <a:spLocks noGrp="1"/>
          </p:cNvSpPr>
          <p:nvPr>
            <p:ph type="body" sz="quarter" idx="17"/>
          </p:nvPr>
        </p:nvSpPr>
        <p:spPr>
          <a:xfrm>
            <a:off x="727511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3" name="Text Placeholder 22">
            <a:extLst>
              <a:ext uri="{FF2B5EF4-FFF2-40B4-BE49-F238E27FC236}">
                <a16:creationId xmlns:a16="http://schemas.microsoft.com/office/drawing/2014/main" id="{FC3EDE91-631F-4947-94DC-557685FD23E0}"/>
              </a:ext>
            </a:extLst>
          </p:cNvPr>
          <p:cNvSpPr>
            <a:spLocks noGrp="1"/>
          </p:cNvSpPr>
          <p:nvPr>
            <p:ph type="body" sz="quarter" idx="18"/>
          </p:nvPr>
        </p:nvSpPr>
        <p:spPr>
          <a:xfrm>
            <a:off x="9517923"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4" name="Text Placeholder 22">
            <a:extLst>
              <a:ext uri="{FF2B5EF4-FFF2-40B4-BE49-F238E27FC236}">
                <a16:creationId xmlns:a16="http://schemas.microsoft.com/office/drawing/2014/main" id="{8FDDBEF4-1329-49DF-B043-D51B34F5EE34}"/>
              </a:ext>
            </a:extLst>
          </p:cNvPr>
          <p:cNvSpPr>
            <a:spLocks noGrp="1"/>
          </p:cNvSpPr>
          <p:nvPr>
            <p:ph type="body" sz="quarter" idx="19"/>
          </p:nvPr>
        </p:nvSpPr>
        <p:spPr>
          <a:xfrm>
            <a:off x="951792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7" name="Picture Placeholder 36">
            <a:extLst>
              <a:ext uri="{FF2B5EF4-FFF2-40B4-BE49-F238E27FC236}">
                <a16:creationId xmlns:a16="http://schemas.microsoft.com/office/drawing/2014/main" id="{FBDB3FD3-4F52-4E28-B639-5F73070E47D9}"/>
              </a:ext>
            </a:extLst>
          </p:cNvPr>
          <p:cNvSpPr>
            <a:spLocks noGrp="1"/>
          </p:cNvSpPr>
          <p:nvPr>
            <p:ph type="pic" sz="quarter" idx="20"/>
          </p:nvPr>
        </p:nvSpPr>
        <p:spPr>
          <a:xfrm>
            <a:off x="878337"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Tree>
    <p:extLst>
      <p:ext uri="{BB962C8B-B14F-4D97-AF65-F5344CB8AC3E}">
        <p14:creationId xmlns:p14="http://schemas.microsoft.com/office/powerpoint/2010/main" val="179588483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_Custom Layout">
    <p:bg>
      <p:bgPr>
        <a:solidFill>
          <a:schemeClr val="tx1"/>
        </a:solidFill>
        <a:effectLst/>
      </p:bgPr>
    </p:bg>
    <p:spTree>
      <p:nvGrpSpPr>
        <p:cNvPr id="1" name=""/>
        <p:cNvGrpSpPr/>
        <p:nvPr/>
      </p:nvGrpSpPr>
      <p:grpSpPr>
        <a:xfrm>
          <a:off x="0" y="0"/>
          <a:ext cx="0" cy="0"/>
          <a:chOff x="0" y="0"/>
          <a:chExt cx="0" cy="0"/>
        </a:xfrm>
      </p:grpSpPr>
      <p:sp>
        <p:nvSpPr>
          <p:cNvPr id="22" name="Picture Placeholder 21">
            <a:extLst>
              <a:ext uri="{FF2B5EF4-FFF2-40B4-BE49-F238E27FC236}">
                <a16:creationId xmlns:a16="http://schemas.microsoft.com/office/drawing/2014/main" id="{DFA57703-9E4A-48E0-A123-3A5EDC76475C}"/>
              </a:ext>
            </a:extLst>
          </p:cNvPr>
          <p:cNvSpPr>
            <a:spLocks noGrp="1"/>
          </p:cNvSpPr>
          <p:nvPr>
            <p:ph type="pic" sz="quarter" idx="10"/>
          </p:nvPr>
        </p:nvSpPr>
        <p:spPr>
          <a:xfrm>
            <a:off x="0" y="0"/>
            <a:ext cx="12192000" cy="6858000"/>
          </a:xfrm>
          <a:prstGeom prst="rect">
            <a:avLst/>
          </a:prstGeom>
        </p:spPr>
        <p:txBody>
          <a:bodyPr/>
          <a:lstStyle/>
          <a:p>
            <a:r>
              <a:rPr lang="en-US"/>
              <a:t>Click icon to add picture</a:t>
            </a:r>
            <a:endParaRPr lang="en-US" dirty="0"/>
          </a:p>
        </p:txBody>
      </p:sp>
      <p:sp>
        <p:nvSpPr>
          <p:cNvPr id="2" name="Rectangle 1" descr="Tall office building looking up">
            <a:extLst>
              <a:ext uri="{FF2B5EF4-FFF2-40B4-BE49-F238E27FC236}">
                <a16:creationId xmlns:a16="http://schemas.microsoft.com/office/drawing/2014/main" id="{AF7FA146-2A75-4EA7-A9AD-EBCE6F17FB42}"/>
              </a:ext>
            </a:extLst>
          </p:cNvPr>
          <p:cNvSpPr/>
          <p:nvPr userDrawn="1"/>
        </p:nvSpPr>
        <p:spPr>
          <a:xfrm>
            <a:off x="3718560" y="1181123"/>
            <a:ext cx="4754880" cy="4495754"/>
          </a:xfrm>
          <a:prstGeom prst="rect">
            <a:avLst/>
          </a:prstGeom>
          <a:solidFill>
            <a:schemeClr val="accent5">
              <a:alpha val="40000"/>
            </a:schemeClr>
          </a:solidFill>
          <a:ln w="603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 Placeholder 23">
            <a:extLst>
              <a:ext uri="{FF2B5EF4-FFF2-40B4-BE49-F238E27FC236}">
                <a16:creationId xmlns:a16="http://schemas.microsoft.com/office/drawing/2014/main" id="{340C15AA-E296-48AE-857F-0589EEA69DC6}"/>
              </a:ext>
            </a:extLst>
          </p:cNvPr>
          <p:cNvSpPr>
            <a:spLocks noGrp="1"/>
          </p:cNvSpPr>
          <p:nvPr>
            <p:ph type="body" sz="quarter" idx="11" hasCustomPrompt="1"/>
          </p:nvPr>
        </p:nvSpPr>
        <p:spPr>
          <a:xfrm>
            <a:off x="4149139" y="4859469"/>
            <a:ext cx="3924934" cy="490538"/>
          </a:xfrm>
          <a:prstGeom prst="rect">
            <a:avLst/>
          </a:prstGeom>
        </p:spPr>
        <p:txBody>
          <a:bodyPr/>
          <a:lstStyle>
            <a:lvl1pPr algn="r">
              <a:buNone/>
              <a:defRPr lang="en-US" sz="2400" b="1" kern="1200" dirty="0" smtClean="0">
                <a:solidFill>
                  <a:schemeClr val="accent4"/>
                </a:solidFill>
                <a:latin typeface="Calibri" panose="020F0502020204030204" pitchFamily="34" charset="0"/>
                <a:ea typeface="+mn-ea"/>
                <a:cs typeface="Calibri" panose="020F0502020204030204" pitchFamily="34" charset="0"/>
              </a:defRPr>
            </a:lvl1pPr>
            <a:lvl2pPr>
              <a:buNone/>
              <a:defRPr/>
            </a:lvl2pPr>
          </a:lstStyle>
          <a:p>
            <a:pPr lvl="0"/>
            <a:r>
              <a:rPr lang="en-US" dirty="0"/>
              <a:t>Click to edit text</a:t>
            </a:r>
          </a:p>
        </p:txBody>
      </p:sp>
      <p:sp>
        <p:nvSpPr>
          <p:cNvPr id="6" name="Title 1">
            <a:extLst>
              <a:ext uri="{FF2B5EF4-FFF2-40B4-BE49-F238E27FC236}">
                <a16:creationId xmlns:a16="http://schemas.microsoft.com/office/drawing/2014/main" id="{162BE5D7-9E35-49F8-A8E4-2093183A6404}"/>
              </a:ext>
            </a:extLst>
          </p:cNvPr>
          <p:cNvSpPr>
            <a:spLocks noGrp="1"/>
          </p:cNvSpPr>
          <p:nvPr>
            <p:ph type="title"/>
          </p:nvPr>
        </p:nvSpPr>
        <p:spPr>
          <a:xfrm>
            <a:off x="4149139" y="1529685"/>
            <a:ext cx="3924934" cy="1695637"/>
          </a:xfrm>
          <a:prstGeom prst="rect">
            <a:avLst/>
          </a:prstGeom>
        </p:spPr>
        <p:txBody>
          <a:bodyPr/>
          <a:lstStyle>
            <a:lvl1pPr>
              <a:spcBef>
                <a:spcPts val="1000"/>
              </a:spcBef>
              <a:defRPr sz="4800" b="1">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31439956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9/3/2026</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smtClean="0"/>
              <a:pPr/>
              <a:t>‹#›</a:t>
            </a:fld>
            <a:endParaRPr lang="en-US" dirty="0"/>
          </a:p>
        </p:txBody>
      </p:sp>
      <p:sp>
        <p:nvSpPr>
          <p:cNvPr id="18" name="Date Placeholder 3">
            <a:extLst>
              <a:ext uri="{FF2B5EF4-FFF2-40B4-BE49-F238E27FC236}">
                <a16:creationId xmlns:a16="http://schemas.microsoft.com/office/drawing/2014/main" id="{2CD6B789-4B66-4BD0-9623-80E9542A65FE}"/>
              </a:ext>
            </a:extLst>
          </p:cNvPr>
          <p:cNvSpPr txBox="1">
            <a:spLocks/>
          </p:cNvSpPr>
          <p:nvPr userDrawn="1"/>
        </p:nvSpPr>
        <p:spPr>
          <a:xfrm>
            <a:off x="660396"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7BD5F78-1C10-49D6-8616-C9F20406C112}" type="datetime1">
              <a:rPr lang="en-US" sz="1100" smtClean="0">
                <a:solidFill>
                  <a:schemeClr val="accent2"/>
                </a:solidFill>
              </a:rPr>
              <a:pPr/>
              <a:t>9/3/2026</a:t>
            </a:fld>
            <a:endParaRPr lang="en-US" sz="1100" dirty="0">
              <a:solidFill>
                <a:schemeClr val="accent2"/>
              </a:solidFill>
            </a:endParaRPr>
          </a:p>
        </p:txBody>
      </p:sp>
      <p:sp>
        <p:nvSpPr>
          <p:cNvPr id="29" name="Footer Placeholder 4">
            <a:extLst>
              <a:ext uri="{FF2B5EF4-FFF2-40B4-BE49-F238E27FC236}">
                <a16:creationId xmlns:a16="http://schemas.microsoft.com/office/drawing/2014/main" id="{A3BB5234-44A4-4506-BD19-5808475EBB7F}"/>
              </a:ext>
            </a:extLst>
          </p:cNvPr>
          <p:cNvSpPr txBox="1">
            <a:spLocks/>
          </p:cNvSpPr>
          <p:nvPr userDrawn="1"/>
        </p:nvSpPr>
        <p:spPr>
          <a:xfrm>
            <a:off x="1445526" y="6378906"/>
            <a:ext cx="41148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1100" b="1" dirty="0">
                <a:solidFill>
                  <a:schemeClr val="accent2"/>
                </a:solidFill>
              </a:rPr>
              <a:t>Annual Review</a:t>
            </a:r>
          </a:p>
        </p:txBody>
      </p:sp>
      <p:sp>
        <p:nvSpPr>
          <p:cNvPr id="30" name="Slide Number Placeholder 5">
            <a:extLst>
              <a:ext uri="{FF2B5EF4-FFF2-40B4-BE49-F238E27FC236}">
                <a16:creationId xmlns:a16="http://schemas.microsoft.com/office/drawing/2014/main" id="{68D89618-7EE9-46BF-BEAC-45E6F98ACA1A}"/>
              </a:ext>
            </a:extLst>
          </p:cNvPr>
          <p:cNvSpPr txBox="1">
            <a:spLocks/>
          </p:cNvSpPr>
          <p:nvPr userDrawn="1"/>
        </p:nvSpPr>
        <p:spPr>
          <a:xfrm>
            <a:off x="8805338"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2C18C1E5-FB55-42F5-BD6D-9CC153FCDBE6}" type="slidenum">
              <a:rPr lang="en-US" sz="1100" smtClean="0">
                <a:solidFill>
                  <a:schemeClr val="accent4"/>
                </a:solidFill>
              </a:rPr>
              <a:pPr algn="r"/>
              <a:t>‹#›</a:t>
            </a:fld>
            <a:endParaRPr lang="en-US" sz="1100" dirty="0">
              <a:solidFill>
                <a:schemeClr val="accent4"/>
              </a:solidFill>
            </a:endParaRPr>
          </a:p>
        </p:txBody>
      </p:sp>
    </p:spTree>
    <p:extLst>
      <p:ext uri="{BB962C8B-B14F-4D97-AF65-F5344CB8AC3E}">
        <p14:creationId xmlns:p14="http://schemas.microsoft.com/office/powerpoint/2010/main" val="3064259027"/>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 id="2147483759" r:id="rId12"/>
    <p:sldLayoutId id="2147483760" r:id="rId13"/>
    <p:sldLayoutId id="2147483761" r:id="rId14"/>
    <p:sldLayoutId id="2147483762" r:id="rId15"/>
    <p:sldLayoutId id="2147483763" r:id="rId16"/>
    <p:sldLayoutId id="2147483764" r:id="rId17"/>
    <p:sldLayoutId id="2147483765" r:id="rId18"/>
    <p:sldLayoutId id="2147483766" r:id="rId19"/>
    <p:sldLayoutId id="2147483769" r:id="rId20"/>
    <p:sldLayoutId id="2147483690" r:id="rId21"/>
  </p:sldLayoutIdLst>
  <p:hf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3" Type="http://schemas.openxmlformats.org/officeDocument/2006/relationships/image" Target="../media/image1.jfif"/><Relationship Id="rId2" Type="http://schemas.openxmlformats.org/officeDocument/2006/relationships/image" Target="../media/image2.png"/><Relationship Id="rId1" Type="http://schemas.openxmlformats.org/officeDocument/2006/relationships/slideLayout" Target="../slideLayouts/slideLayout19.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9.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8.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samyakbiswas729-dev/Seasonal-Agriculture-Performance-Analysis" TargetMode="External"/><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4.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201737A-B873-4D1D-8A41-5ABF5184BC8F}"/>
              </a:ext>
            </a:extLst>
          </p:cNvPr>
          <p:cNvSpPr>
            <a:spLocks noGrp="1"/>
          </p:cNvSpPr>
          <p:nvPr>
            <p:ph type="body" sz="quarter" idx="11"/>
          </p:nvPr>
        </p:nvSpPr>
        <p:spPr>
          <a:xfrm>
            <a:off x="1130059" y="3583914"/>
            <a:ext cx="6996024" cy="861497"/>
          </a:xfrm>
        </p:spPr>
        <p:txBody>
          <a:bodyPr vert="horz" lIns="91440" tIns="45720" rIns="91440" bIns="45720" rtlCol="0" anchor="t">
            <a:normAutofit fontScale="85000" lnSpcReduction="10000"/>
          </a:bodyPr>
          <a:lstStyle/>
          <a:p>
            <a:r>
              <a:rPr lang="en-US" b="0" dirty="0">
                <a:solidFill>
                  <a:schemeClr val="tx1"/>
                </a:solidFill>
              </a:rPr>
              <a:t>Student Name- </a:t>
            </a:r>
            <a:r>
              <a:rPr lang="en-US" dirty="0">
                <a:solidFill>
                  <a:schemeClr val="tx1"/>
                </a:solidFill>
              </a:rPr>
              <a:t>Samyak Biswas </a:t>
            </a:r>
            <a:endParaRPr lang="en-IN" dirty="0">
              <a:solidFill>
                <a:schemeClr val="tx1"/>
              </a:solidFill>
            </a:endParaRPr>
          </a:p>
          <a:p>
            <a:r>
              <a:rPr lang="en-US" b="0" dirty="0">
                <a:solidFill>
                  <a:schemeClr val="tx1"/>
                </a:solidFill>
              </a:rPr>
              <a:t>College Name- </a:t>
            </a:r>
            <a:r>
              <a:rPr lang="en-US" dirty="0">
                <a:solidFill>
                  <a:schemeClr val="tx1"/>
                </a:solidFill>
              </a:rPr>
              <a:t>University of Engineering and Management, Kolkata</a:t>
            </a:r>
            <a:endParaRPr lang="en-IN" dirty="0">
              <a:solidFill>
                <a:schemeClr val="tx1"/>
              </a:solidFill>
            </a:endParaRPr>
          </a:p>
        </p:txBody>
      </p:sp>
      <p:sp>
        <p:nvSpPr>
          <p:cNvPr id="4" name="Title 3">
            <a:extLst>
              <a:ext uri="{FF2B5EF4-FFF2-40B4-BE49-F238E27FC236}">
                <a16:creationId xmlns:a16="http://schemas.microsoft.com/office/drawing/2014/main" id="{92056599-CDAA-4367-BEF8-31D6E32518C8}"/>
              </a:ext>
            </a:extLst>
          </p:cNvPr>
          <p:cNvSpPr>
            <a:spLocks noGrp="1"/>
          </p:cNvSpPr>
          <p:nvPr>
            <p:ph type="title"/>
          </p:nvPr>
        </p:nvSpPr>
        <p:spPr>
          <a:xfrm>
            <a:off x="678363" y="2844750"/>
            <a:ext cx="9958007" cy="743448"/>
          </a:xfrm>
        </p:spPr>
        <p:txBody>
          <a:bodyPr>
            <a:normAutofit fontScale="90000"/>
          </a:bodyPr>
          <a:lstStyle/>
          <a:p>
            <a:r>
              <a:rPr lang="en-GB" sz="3200" dirty="0"/>
              <a:t>Project Title - </a:t>
            </a:r>
            <a:r>
              <a:rPr lang="en-IN" sz="3200" dirty="0"/>
              <a:t>Seasonal Agriculture Performance Analysis</a:t>
            </a:r>
          </a:p>
        </p:txBody>
      </p:sp>
      <p:sp>
        <p:nvSpPr>
          <p:cNvPr id="15" name="Text Placeholder 1">
            <a:extLst>
              <a:ext uri="{FF2B5EF4-FFF2-40B4-BE49-F238E27FC236}">
                <a16:creationId xmlns:a16="http://schemas.microsoft.com/office/drawing/2014/main" id="{824B8A32-9AB3-457E-82E1-C85D3203CE35}"/>
              </a:ext>
            </a:extLst>
          </p:cNvPr>
          <p:cNvSpPr txBox="1">
            <a:spLocks/>
          </p:cNvSpPr>
          <p:nvPr/>
        </p:nvSpPr>
        <p:spPr>
          <a:xfrm>
            <a:off x="6400800" y="2794001"/>
            <a:ext cx="3312160" cy="861497"/>
          </a:xfrm>
          <a:prstGeom prst="rect">
            <a:avLst/>
          </a:prstGeom>
        </p:spPr>
        <p:txBody>
          <a:bodyPr vert="horz" lIns="91440" tIns="45720" rIns="91440" bIns="45720" rtlCol="0">
            <a:normAutofit/>
          </a:bodyPr>
          <a:lstStyle>
            <a:lvl1pPr marL="0" indent="0" algn="l" defTabSz="457200" rtl="0" eaLnBrk="1" latinLnBrk="0" hangingPunct="1">
              <a:spcBef>
                <a:spcPts val="1000"/>
              </a:spcBef>
              <a:spcAft>
                <a:spcPts val="0"/>
              </a:spcAft>
              <a:buClr>
                <a:schemeClr val="accent1"/>
              </a:buClr>
              <a:buSzPct val="80000"/>
              <a:buFont typeface="Wingdings 3" charset="2"/>
              <a:buNone/>
              <a:defRPr sz="2000" b="1" kern="120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None/>
              <a:defRPr sz="20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400" dirty="0"/>
          </a:p>
        </p:txBody>
      </p:sp>
      <p:pic>
        <p:nvPicPr>
          <p:cNvPr id="6" name="Picture 5">
            <a:extLst>
              <a:ext uri="{FF2B5EF4-FFF2-40B4-BE49-F238E27FC236}">
                <a16:creationId xmlns:a16="http://schemas.microsoft.com/office/drawing/2014/main" id="{E30DEFF0-8DEE-4B0B-9B30-675FE9E288A2}"/>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3" name="TextBox 2">
            <a:extLst>
              <a:ext uri="{FF2B5EF4-FFF2-40B4-BE49-F238E27FC236}">
                <a16:creationId xmlns:a16="http://schemas.microsoft.com/office/drawing/2014/main" id="{17F04107-8754-E47D-3375-529E689711FA}"/>
              </a:ext>
            </a:extLst>
          </p:cNvPr>
          <p:cNvSpPr txBox="1"/>
          <p:nvPr/>
        </p:nvSpPr>
        <p:spPr>
          <a:xfrm>
            <a:off x="1130059" y="4576469"/>
            <a:ext cx="6357669" cy="369332"/>
          </a:xfrm>
          <a:prstGeom prst="rect">
            <a:avLst/>
          </a:prstGeom>
          <a:noFill/>
        </p:spPr>
        <p:txBody>
          <a:bodyPr wrap="square" rtlCol="0">
            <a:spAutoFit/>
          </a:bodyPr>
          <a:lstStyle/>
          <a:p>
            <a:r>
              <a:rPr lang="en-US" dirty="0"/>
              <a:t>AICTE STU ID :  </a:t>
            </a:r>
            <a:r>
              <a:rPr lang="en-IN" b="1" dirty="0"/>
              <a:t>STU68cc048fb52df1758200975</a:t>
            </a:r>
            <a:endParaRPr lang="en-US" b="1" dirty="0"/>
          </a:p>
        </p:txBody>
      </p:sp>
    </p:spTree>
    <p:extLst>
      <p:ext uri="{BB962C8B-B14F-4D97-AF65-F5344CB8AC3E}">
        <p14:creationId xmlns:p14="http://schemas.microsoft.com/office/powerpoint/2010/main" val="1604013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80">
                                          <p:stCondLst>
                                            <p:cond delay="0"/>
                                          </p:stCondLst>
                                        </p:cTn>
                                        <p:tgtEl>
                                          <p:spTgt spid="4"/>
                                        </p:tgtEl>
                                      </p:cBhvr>
                                    </p:animEffect>
                                    <p:anim calcmode="lin" valueType="num">
                                      <p:cBhvr>
                                        <p:cTn id="8" dur="1822" tmFilter="0,0; 0.14,0.36; 0.43,0.73; 0.71,0.91; 1.0,1.0">
                                          <p:stCondLst>
                                            <p:cond delay="0"/>
                                          </p:stCondLst>
                                        </p:cTn>
                                        <p:tgtEl>
                                          <p:spTgt spid="4"/>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4"/>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4"/>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4"/>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4"/>
                                        </p:tgtEl>
                                        <p:attrNameLst>
                                          <p:attrName>ppt_y</p:attrName>
                                        </p:attrNameLst>
                                      </p:cBhvr>
                                      <p:tavLst>
                                        <p:tav tm="0" fmla="#ppt_y-sin(pi*$)/81">
                                          <p:val>
                                            <p:fltVal val="0"/>
                                          </p:val>
                                        </p:tav>
                                        <p:tav tm="100000">
                                          <p:val>
                                            <p:fltVal val="1"/>
                                          </p:val>
                                        </p:tav>
                                      </p:tavLst>
                                    </p:anim>
                                    <p:animScale>
                                      <p:cBhvr>
                                        <p:cTn id="13" dur="26">
                                          <p:stCondLst>
                                            <p:cond delay="650"/>
                                          </p:stCondLst>
                                        </p:cTn>
                                        <p:tgtEl>
                                          <p:spTgt spid="4"/>
                                        </p:tgtEl>
                                      </p:cBhvr>
                                      <p:to x="100000" y="60000"/>
                                    </p:animScale>
                                    <p:animScale>
                                      <p:cBhvr>
                                        <p:cTn id="14" dur="166" decel="50000">
                                          <p:stCondLst>
                                            <p:cond delay="676"/>
                                          </p:stCondLst>
                                        </p:cTn>
                                        <p:tgtEl>
                                          <p:spTgt spid="4"/>
                                        </p:tgtEl>
                                      </p:cBhvr>
                                      <p:to x="100000" y="100000"/>
                                    </p:animScale>
                                    <p:animScale>
                                      <p:cBhvr>
                                        <p:cTn id="15" dur="26">
                                          <p:stCondLst>
                                            <p:cond delay="1312"/>
                                          </p:stCondLst>
                                        </p:cTn>
                                        <p:tgtEl>
                                          <p:spTgt spid="4"/>
                                        </p:tgtEl>
                                      </p:cBhvr>
                                      <p:to x="100000" y="80000"/>
                                    </p:animScale>
                                    <p:animScale>
                                      <p:cBhvr>
                                        <p:cTn id="16" dur="166" decel="50000">
                                          <p:stCondLst>
                                            <p:cond delay="1338"/>
                                          </p:stCondLst>
                                        </p:cTn>
                                        <p:tgtEl>
                                          <p:spTgt spid="4"/>
                                        </p:tgtEl>
                                      </p:cBhvr>
                                      <p:to x="100000" y="100000"/>
                                    </p:animScale>
                                    <p:animScale>
                                      <p:cBhvr>
                                        <p:cTn id="17" dur="26">
                                          <p:stCondLst>
                                            <p:cond delay="1642"/>
                                          </p:stCondLst>
                                        </p:cTn>
                                        <p:tgtEl>
                                          <p:spTgt spid="4"/>
                                        </p:tgtEl>
                                      </p:cBhvr>
                                      <p:to x="100000" y="90000"/>
                                    </p:animScale>
                                    <p:animScale>
                                      <p:cBhvr>
                                        <p:cTn id="18" dur="166" decel="50000">
                                          <p:stCondLst>
                                            <p:cond delay="1668"/>
                                          </p:stCondLst>
                                        </p:cTn>
                                        <p:tgtEl>
                                          <p:spTgt spid="4"/>
                                        </p:tgtEl>
                                      </p:cBhvr>
                                      <p:to x="100000" y="100000"/>
                                    </p:animScale>
                                    <p:animScale>
                                      <p:cBhvr>
                                        <p:cTn id="19" dur="26">
                                          <p:stCondLst>
                                            <p:cond delay="1808"/>
                                          </p:stCondLst>
                                        </p:cTn>
                                        <p:tgtEl>
                                          <p:spTgt spid="4"/>
                                        </p:tgtEl>
                                      </p:cBhvr>
                                      <p:to x="100000" y="95000"/>
                                    </p:animScale>
                                    <p:animScale>
                                      <p:cBhvr>
                                        <p:cTn id="20" dur="166" decel="50000">
                                          <p:stCondLst>
                                            <p:cond delay="1834"/>
                                          </p:stCondLst>
                                        </p:cTn>
                                        <p:tgtEl>
                                          <p:spTgt spid="4"/>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53" presetClass="entr" presetSubtype="16" fill="hold" grpId="0" nodeType="clickEffect" nodePh="1">
                                  <p:stCondLst>
                                    <p:cond delay="0"/>
                                  </p:stCondLst>
                                  <p:endCondLst>
                                    <p:cond evt="begin" delay="0">
                                      <p:tn val="23"/>
                                    </p:cond>
                                  </p:endCondLst>
                                  <p:childTnLst>
                                    <p:set>
                                      <p:cBhvr>
                                        <p:cTn id="24" dur="1" fill="hold">
                                          <p:stCondLst>
                                            <p:cond delay="0"/>
                                          </p:stCondLst>
                                        </p:cTn>
                                        <p:tgtEl>
                                          <p:spTgt spid="15"/>
                                        </p:tgtEl>
                                        <p:attrNameLst>
                                          <p:attrName>style.visibility</p:attrName>
                                        </p:attrNameLst>
                                      </p:cBhvr>
                                      <p:to>
                                        <p:strVal val="visible"/>
                                      </p:to>
                                    </p:set>
                                    <p:anim calcmode="lin" valueType="num">
                                      <p:cBhvr>
                                        <p:cTn id="25" dur="500" fill="hold"/>
                                        <p:tgtEl>
                                          <p:spTgt spid="15"/>
                                        </p:tgtEl>
                                        <p:attrNameLst>
                                          <p:attrName>ppt_w</p:attrName>
                                        </p:attrNameLst>
                                      </p:cBhvr>
                                      <p:tavLst>
                                        <p:tav tm="0">
                                          <p:val>
                                            <p:fltVal val="0"/>
                                          </p:val>
                                        </p:tav>
                                        <p:tav tm="100000">
                                          <p:val>
                                            <p:strVal val="#ppt_w"/>
                                          </p:val>
                                        </p:tav>
                                      </p:tavLst>
                                    </p:anim>
                                    <p:anim calcmode="lin" valueType="num">
                                      <p:cBhvr>
                                        <p:cTn id="26" dur="500" fill="hold"/>
                                        <p:tgtEl>
                                          <p:spTgt spid="15"/>
                                        </p:tgtEl>
                                        <p:attrNameLst>
                                          <p:attrName>ppt_h</p:attrName>
                                        </p:attrNameLst>
                                      </p:cBhvr>
                                      <p:tavLst>
                                        <p:tav tm="0">
                                          <p:val>
                                            <p:fltVal val="0"/>
                                          </p:val>
                                        </p:tav>
                                        <p:tav tm="100000">
                                          <p:val>
                                            <p:strVal val="#ppt_h"/>
                                          </p:val>
                                        </p:tav>
                                      </p:tavLst>
                                    </p:anim>
                                    <p:animEffect transition="in" filter="fade">
                                      <p:cBhvr>
                                        <p:cTn id="27" dur="500"/>
                                        <p:tgtEl>
                                          <p:spTgt spid="15"/>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grpId="0" nodeType="clickEffect">
                                  <p:stCondLst>
                                    <p:cond delay="0"/>
                                  </p:stCondLst>
                                  <p:childTnLst>
                                    <p:set>
                                      <p:cBhvr>
                                        <p:cTn id="31" dur="1" fill="hold">
                                          <p:stCondLst>
                                            <p:cond delay="0"/>
                                          </p:stCondLst>
                                        </p:cTn>
                                        <p:tgtEl>
                                          <p:spTgt spid="2">
                                            <p:txEl>
                                              <p:pRg st="0" end="0"/>
                                            </p:txEl>
                                          </p:spTgt>
                                        </p:tgtEl>
                                        <p:attrNameLst>
                                          <p:attrName>style.visibility</p:attrName>
                                        </p:attrNameLst>
                                      </p:cBhvr>
                                      <p:to>
                                        <p:strVal val="visible"/>
                                      </p:to>
                                    </p:set>
                                    <p:animEffect transition="in" filter="randombar(horizontal)">
                                      <p:cBhvr>
                                        <p:cTn id="32" dur="500"/>
                                        <p:tgtEl>
                                          <p:spTgt spid="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4" presetClass="entr" presetSubtype="10" fill="hold" grpId="0" nodeType="clickEffect">
                                  <p:stCondLst>
                                    <p:cond delay="0"/>
                                  </p:stCondLst>
                                  <p:childTnLst>
                                    <p:set>
                                      <p:cBhvr>
                                        <p:cTn id="36" dur="1" fill="hold">
                                          <p:stCondLst>
                                            <p:cond delay="0"/>
                                          </p:stCondLst>
                                        </p:cTn>
                                        <p:tgtEl>
                                          <p:spTgt spid="2">
                                            <p:txEl>
                                              <p:pRg st="1" end="1"/>
                                            </p:txEl>
                                          </p:spTgt>
                                        </p:tgtEl>
                                        <p:attrNameLst>
                                          <p:attrName>style.visibility</p:attrName>
                                        </p:attrNameLst>
                                      </p:cBhvr>
                                      <p:to>
                                        <p:strVal val="visible"/>
                                      </p:to>
                                    </p:set>
                                    <p:animEffect transition="in" filter="randombar(horizontal)">
                                      <p:cBhvr>
                                        <p:cTn id="37" dur="500"/>
                                        <p:tgtEl>
                                          <p:spTgt spid="2">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P spid="15"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46E4DD1-270B-4C80-AFF0-EB26F132AF36}"/>
              </a:ext>
            </a:extLst>
          </p:cNvPr>
          <p:cNvSpPr>
            <a:spLocks noGrp="1"/>
          </p:cNvSpPr>
          <p:nvPr>
            <p:ph type="body" sz="quarter" idx="12"/>
          </p:nvPr>
        </p:nvSpPr>
        <p:spPr>
          <a:xfrm>
            <a:off x="675957" y="1875556"/>
            <a:ext cx="7527764" cy="3607987"/>
          </a:xfrm>
        </p:spPr>
        <p:txBody>
          <a:bodyPr vert="horz" lIns="91440" tIns="45720" rIns="91440" bIns="45720" rtlCol="0" anchor="t">
            <a:normAutofit fontScale="70000" lnSpcReduction="20000"/>
          </a:bodyPr>
          <a:lstStyle/>
          <a:p>
            <a:r>
              <a:rPr lang="en-IN" sz="2800" dirty="0"/>
              <a:t>Agricultural performance varies across different seasons due to changes in environmental conditions, farming practices, resource availability and market conditions.</a:t>
            </a:r>
          </a:p>
          <a:p>
            <a:endParaRPr lang="en-IN" sz="2800" dirty="0"/>
          </a:p>
          <a:p>
            <a:r>
              <a:rPr lang="en-IN" sz="2800" dirty="0"/>
              <a:t>The raw agricultural dataset does not clearly show how yield, profitability, resource usage and other performance indicators change across seasons.</a:t>
            </a:r>
          </a:p>
          <a:p>
            <a:endParaRPr lang="en-IN" sz="2800" dirty="0"/>
          </a:p>
          <a:p>
            <a:r>
              <a:rPr lang="en-IN" sz="2800" dirty="0"/>
              <a:t>Therefore, this project focuses on </a:t>
            </a:r>
            <a:r>
              <a:rPr lang="en-IN" sz="2800" dirty="0" err="1"/>
              <a:t>analyzing</a:t>
            </a:r>
            <a:r>
              <a:rPr lang="en-IN" sz="2800" dirty="0"/>
              <a:t> agricultural data to identify seasonal patterns, trends, relationships and differences in agricultural performance.</a:t>
            </a:r>
          </a:p>
          <a:p>
            <a:pPr>
              <a:lnSpc>
                <a:spcPct val="150000"/>
              </a:lnSpc>
            </a:pPr>
            <a:endParaRPr lang="en-IN" sz="2800" dirty="0"/>
          </a:p>
        </p:txBody>
      </p:sp>
      <p:sp>
        <p:nvSpPr>
          <p:cNvPr id="4" name="Title 3">
            <a:extLst>
              <a:ext uri="{FF2B5EF4-FFF2-40B4-BE49-F238E27FC236}">
                <a16:creationId xmlns:a16="http://schemas.microsoft.com/office/drawing/2014/main" id="{777CC02B-F7C6-47A8-8C3E-C57C417D9EA3}"/>
              </a:ext>
            </a:extLst>
          </p:cNvPr>
          <p:cNvSpPr>
            <a:spLocks noGrp="1"/>
          </p:cNvSpPr>
          <p:nvPr>
            <p:ph type="title"/>
          </p:nvPr>
        </p:nvSpPr>
        <p:spPr>
          <a:xfrm>
            <a:off x="754602" y="550417"/>
            <a:ext cx="6995604" cy="790111"/>
          </a:xfrm>
        </p:spPr>
        <p:txBody>
          <a:bodyPr>
            <a:normAutofit fontScale="90000"/>
          </a:bodyPr>
          <a:lstStyle/>
          <a:p>
            <a:r>
              <a:rPr lang="en-US" dirty="0"/>
              <a:t>PROBLEM  STATEMENT</a:t>
            </a:r>
            <a:endParaRPr lang="en-IN" dirty="0"/>
          </a:p>
        </p:txBody>
      </p:sp>
      <p:pic>
        <p:nvPicPr>
          <p:cNvPr id="5" name="Picture 4">
            <a:extLst>
              <a:ext uri="{FF2B5EF4-FFF2-40B4-BE49-F238E27FC236}">
                <a16:creationId xmlns:a16="http://schemas.microsoft.com/office/drawing/2014/main" id="{C8FE02DE-D7B2-433D-BFE4-2F564022AD89}"/>
              </a:ext>
            </a:extLst>
          </p:cNvPr>
          <p:cNvPicPr>
            <a:picLocks noChangeAspect="1"/>
          </p:cNvPicPr>
          <p:nvPr/>
        </p:nvPicPr>
        <p:blipFill>
          <a:blip r:embed="rId2"/>
          <a:stretch>
            <a:fillRect/>
          </a:stretch>
        </p:blipFill>
        <p:spPr>
          <a:xfrm>
            <a:off x="7995684" y="2930834"/>
            <a:ext cx="2760758" cy="3264409"/>
          </a:xfrm>
          <a:prstGeom prst="rect">
            <a:avLst/>
          </a:prstGeom>
        </p:spPr>
      </p:pic>
      <p:pic>
        <p:nvPicPr>
          <p:cNvPr id="6" name="Picture 5">
            <a:extLst>
              <a:ext uri="{FF2B5EF4-FFF2-40B4-BE49-F238E27FC236}">
                <a16:creationId xmlns:a16="http://schemas.microsoft.com/office/drawing/2014/main" id="{736DEFE3-051A-494A-949C-BB2FF86F9ED7}"/>
              </a:ext>
            </a:extLst>
          </p:cNvPr>
          <p:cNvPicPr>
            <a:picLocks noChangeAspect="1"/>
          </p:cNvPicPr>
          <p:nvPr/>
        </p:nvPicPr>
        <p:blipFill rotWithShape="1">
          <a:blip r:embed="rId3"/>
          <a:srcRect t="96181"/>
          <a:stretch/>
        </p:blipFill>
        <p:spPr>
          <a:xfrm>
            <a:off x="675957" y="6471920"/>
            <a:ext cx="2143125" cy="193040"/>
          </a:xfrm>
          <a:prstGeom prst="rect">
            <a:avLst/>
          </a:prstGeom>
        </p:spPr>
      </p:pic>
    </p:spTree>
    <p:extLst>
      <p:ext uri="{BB962C8B-B14F-4D97-AF65-F5344CB8AC3E}">
        <p14:creationId xmlns:p14="http://schemas.microsoft.com/office/powerpoint/2010/main" val="3098548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2">
                                            <p:txEl>
                                              <p:pRg st="2" end="2"/>
                                            </p:txEl>
                                          </p:spTgt>
                                        </p:tgtEl>
                                        <p:attrNameLst>
                                          <p:attrName>style.visibility</p:attrName>
                                        </p:attrNameLst>
                                      </p:cBhvr>
                                      <p:to>
                                        <p:strVal val="visible"/>
                                      </p:to>
                                    </p:set>
                                    <p:animEffect transition="in" filter="fade">
                                      <p:cBhvr>
                                        <p:cTn id="21" dur="1000"/>
                                        <p:tgtEl>
                                          <p:spTgt spid="2">
                                            <p:txEl>
                                              <p:pRg st="2" end="2"/>
                                            </p:txEl>
                                          </p:spTgt>
                                        </p:tgtEl>
                                      </p:cBhvr>
                                    </p:animEffect>
                                    <p:anim calcmode="lin" valueType="num">
                                      <p:cBhvr>
                                        <p:cTn id="22" dur="1000" fill="hold"/>
                                        <p:tgtEl>
                                          <p:spTgt spid="2">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2">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2">
                                            <p:txEl>
                                              <p:pRg st="4" end="4"/>
                                            </p:txEl>
                                          </p:spTgt>
                                        </p:tgtEl>
                                        <p:attrNameLst>
                                          <p:attrName>style.visibility</p:attrName>
                                        </p:attrNameLst>
                                      </p:cBhvr>
                                      <p:to>
                                        <p:strVal val="visible"/>
                                      </p:to>
                                    </p:set>
                                    <p:animEffect transition="in" filter="fade">
                                      <p:cBhvr>
                                        <p:cTn id="28" dur="1000"/>
                                        <p:tgtEl>
                                          <p:spTgt spid="2">
                                            <p:txEl>
                                              <p:pRg st="4" end="4"/>
                                            </p:txEl>
                                          </p:spTgt>
                                        </p:tgtEl>
                                      </p:cBhvr>
                                    </p:animEffect>
                                    <p:anim calcmode="lin" valueType="num">
                                      <p:cBhvr>
                                        <p:cTn id="29" dur="1000" fill="hold"/>
                                        <p:tgtEl>
                                          <p:spTgt spid="2">
                                            <p:txEl>
                                              <p:pRg st="4" end="4"/>
                                            </p:txEl>
                                          </p:spTgt>
                                        </p:tgtEl>
                                        <p:attrNameLst>
                                          <p:attrName>ppt_x</p:attrName>
                                        </p:attrNameLst>
                                      </p:cBhvr>
                                      <p:tavLst>
                                        <p:tav tm="0">
                                          <p:val>
                                            <p:strVal val="#ppt_x"/>
                                          </p:val>
                                        </p:tav>
                                        <p:tav tm="100000">
                                          <p:val>
                                            <p:strVal val="#ppt_x"/>
                                          </p:val>
                                        </p:tav>
                                      </p:tavLst>
                                    </p:anim>
                                    <p:anim calcmode="lin" valueType="num">
                                      <p:cBhvr>
                                        <p:cTn id="30" dur="1000" fill="hold"/>
                                        <p:tgtEl>
                                          <p:spTgt spid="2">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BF2FBC7-3552-4F01-BB27-8BEEE74F7277}"/>
              </a:ext>
            </a:extLst>
          </p:cNvPr>
          <p:cNvSpPr>
            <a:spLocks noGrp="1"/>
          </p:cNvSpPr>
          <p:nvPr>
            <p:ph type="title"/>
          </p:nvPr>
        </p:nvSpPr>
        <p:spPr>
          <a:xfrm>
            <a:off x="660399" y="805213"/>
            <a:ext cx="8794152" cy="830997"/>
          </a:xfrm>
        </p:spPr>
        <p:txBody>
          <a:bodyPr>
            <a:normAutofit fontScale="90000"/>
          </a:bodyPr>
          <a:lstStyle/>
          <a:p>
            <a:r>
              <a:rPr lang="en-GB" dirty="0"/>
              <a:t>Project Description</a:t>
            </a:r>
            <a:br>
              <a:rPr lang="en-GB" dirty="0"/>
            </a:br>
            <a:br>
              <a:rPr lang="en-GB" dirty="0"/>
            </a:br>
            <a:r>
              <a:rPr lang="en-IN" sz="1800" dirty="0"/>
              <a:t>This project analyses farm-level agricultural data across Kharif, Rabi and Zaid seasons.</a:t>
            </a:r>
            <a:br>
              <a:rPr lang="en-IN" sz="1800" dirty="0"/>
            </a:br>
            <a:r>
              <a:rPr lang="en-IN" sz="1800" b="0" dirty="0"/>
              <a:t>The analysis includes data cleaning, exploratory data analysis, statistical analysis and visualization to understand differences in:</a:t>
            </a:r>
            <a:br>
              <a:rPr lang="en-IN" sz="1800" b="0" dirty="0"/>
            </a:br>
            <a:r>
              <a:rPr lang="en-IN" sz="1800" dirty="0"/>
              <a:t>• Crop yield</a:t>
            </a:r>
            <a:br>
              <a:rPr lang="en-IN" sz="1800" dirty="0"/>
            </a:br>
            <a:r>
              <a:rPr lang="en-IN" sz="1800" dirty="0"/>
              <a:t>• Profitability</a:t>
            </a:r>
            <a:br>
              <a:rPr lang="en-IN" sz="1800" dirty="0"/>
            </a:br>
            <a:r>
              <a:rPr lang="en-IN" sz="1800" dirty="0"/>
              <a:t>• Water usage and efficiency</a:t>
            </a:r>
            <a:br>
              <a:rPr lang="en-IN" sz="1800" dirty="0"/>
            </a:br>
            <a:r>
              <a:rPr lang="en-IN" sz="1800" dirty="0"/>
              <a:t>• Irrigation methods</a:t>
            </a:r>
            <a:br>
              <a:rPr lang="en-IN" sz="1800" dirty="0"/>
            </a:br>
            <a:r>
              <a:rPr lang="en-IN" sz="1800" dirty="0"/>
              <a:t>• Environmental conditions</a:t>
            </a:r>
            <a:br>
              <a:rPr lang="en-IN" sz="1800" dirty="0"/>
            </a:br>
            <a:r>
              <a:rPr lang="en-IN" sz="1800" dirty="0"/>
              <a:t>• Disease and pest risk</a:t>
            </a:r>
            <a:br>
              <a:rPr lang="en-IN" sz="1800" dirty="0"/>
            </a:br>
            <a:r>
              <a:rPr lang="en-IN" sz="1800" dirty="0"/>
              <a:t>• Crop and regional performance</a:t>
            </a:r>
            <a:br>
              <a:rPr lang="en-IN" sz="1800" dirty="0"/>
            </a:br>
            <a:br>
              <a:rPr lang="en-IN" sz="1800" b="0" dirty="0"/>
            </a:br>
            <a:r>
              <a:rPr lang="en-IN" sz="1800" b="0" dirty="0"/>
              <a:t>The final objective is to generate meaningful insights and data-driven recommendations for better seasonal agricultural planning.</a:t>
            </a:r>
            <a:br>
              <a:rPr lang="en-IN" sz="1800" b="0" dirty="0"/>
            </a:br>
            <a:br>
              <a:rPr lang="en-GB" sz="1200" dirty="0"/>
            </a:br>
            <a:br>
              <a:rPr lang="en-GB" dirty="0"/>
            </a:br>
            <a:endParaRPr lang="en-IN" dirty="0"/>
          </a:p>
        </p:txBody>
      </p:sp>
      <p:pic>
        <p:nvPicPr>
          <p:cNvPr id="5" name="Picture 4">
            <a:extLst>
              <a:ext uri="{FF2B5EF4-FFF2-40B4-BE49-F238E27FC236}">
                <a16:creationId xmlns:a16="http://schemas.microsoft.com/office/drawing/2014/main" id="{09D8A2BA-6C1D-4A33-85F2-E44A4FF54A1C}"/>
              </a:ext>
            </a:extLst>
          </p:cNvPr>
          <p:cNvPicPr>
            <a:picLocks noChangeAspect="1"/>
          </p:cNvPicPr>
          <p:nvPr/>
        </p:nvPicPr>
        <p:blipFill rotWithShape="1">
          <a:blip r:embed="rId2"/>
          <a:srcRect t="96181"/>
          <a:stretch/>
        </p:blipFill>
        <p:spPr>
          <a:xfrm>
            <a:off x="675957" y="6471920"/>
            <a:ext cx="2143125" cy="193040"/>
          </a:xfrm>
          <a:prstGeom prst="rect">
            <a:avLst/>
          </a:prstGeom>
        </p:spPr>
      </p:pic>
      <p:pic>
        <p:nvPicPr>
          <p:cNvPr id="6" name="Picture 5">
            <a:extLst>
              <a:ext uri="{FF2B5EF4-FFF2-40B4-BE49-F238E27FC236}">
                <a16:creationId xmlns:a16="http://schemas.microsoft.com/office/drawing/2014/main" id="{6BED3D6A-DC10-4985-B01B-735F2CBA6E47}"/>
              </a:ext>
            </a:extLst>
          </p:cNvPr>
          <p:cNvPicPr>
            <a:picLocks noChangeAspect="1"/>
          </p:cNvPicPr>
          <p:nvPr/>
        </p:nvPicPr>
        <p:blipFill>
          <a:blip r:embed="rId3"/>
          <a:stretch>
            <a:fillRect/>
          </a:stretch>
        </p:blipFill>
        <p:spPr>
          <a:xfrm>
            <a:off x="467359" y="6410461"/>
            <a:ext cx="3706253" cy="296092"/>
          </a:xfrm>
          <a:prstGeom prst="rect">
            <a:avLst/>
          </a:prstGeom>
        </p:spPr>
      </p:pic>
    </p:spTree>
    <p:extLst>
      <p:ext uri="{BB962C8B-B14F-4D97-AF65-F5344CB8AC3E}">
        <p14:creationId xmlns:p14="http://schemas.microsoft.com/office/powerpoint/2010/main" val="3696770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4E3B60-2780-459A-8583-F095D5E7463A}"/>
              </a:ext>
            </a:extLst>
          </p:cNvPr>
          <p:cNvSpPr>
            <a:spLocks noGrp="1"/>
          </p:cNvSpPr>
          <p:nvPr>
            <p:ph type="body" sz="quarter" idx="12"/>
          </p:nvPr>
        </p:nvSpPr>
        <p:spPr>
          <a:xfrm>
            <a:off x="721359" y="1613140"/>
            <a:ext cx="7904481" cy="4737337"/>
          </a:xfrm>
        </p:spPr>
        <p:txBody>
          <a:bodyPr>
            <a:normAutofit/>
          </a:bodyPr>
          <a:lstStyle/>
          <a:p>
            <a:r>
              <a:rPr lang="en-IN" sz="1800" b="1" dirty="0"/>
              <a:t>1. Farmers &amp; Farm Managers</a:t>
            </a:r>
            <a:br>
              <a:rPr lang="en-IN" sz="1800" dirty="0"/>
            </a:br>
            <a:r>
              <a:rPr lang="en-IN" sz="1800" dirty="0"/>
              <a:t>To understand seasonal crop performance and resource usage.</a:t>
            </a:r>
          </a:p>
          <a:p>
            <a:r>
              <a:rPr lang="en-IN" sz="1800" b="1" dirty="0"/>
              <a:t>2. Agricultural Planners</a:t>
            </a:r>
            <a:br>
              <a:rPr lang="en-IN" sz="1800" dirty="0"/>
            </a:br>
            <a:r>
              <a:rPr lang="en-IN" sz="1800" dirty="0"/>
              <a:t>To support evidence-based seasonal planning.</a:t>
            </a:r>
          </a:p>
          <a:p>
            <a:r>
              <a:rPr lang="en-IN" sz="1800" b="1" dirty="0"/>
              <a:t>3. Irrigation &amp; Resource Managers</a:t>
            </a:r>
            <a:br>
              <a:rPr lang="en-IN" sz="1800" dirty="0"/>
            </a:br>
            <a:r>
              <a:rPr lang="en-IN" sz="1800" dirty="0"/>
              <a:t>To understand water usage and efficiency.</a:t>
            </a:r>
          </a:p>
          <a:p>
            <a:r>
              <a:rPr lang="en-IN" sz="1800" b="1" dirty="0"/>
              <a:t>4. Agricultural Businesses</a:t>
            </a:r>
            <a:br>
              <a:rPr lang="en-IN" sz="1800" dirty="0"/>
            </a:br>
            <a:r>
              <a:rPr lang="en-IN" sz="1800" dirty="0"/>
              <a:t>To evaluate crop performance and profitability.</a:t>
            </a:r>
          </a:p>
          <a:p>
            <a:r>
              <a:rPr lang="en-IN" sz="1800" b="1" dirty="0"/>
              <a:t>5. Researchers &amp; Data Analysts</a:t>
            </a:r>
            <a:br>
              <a:rPr lang="en-IN" sz="1800" dirty="0"/>
            </a:br>
            <a:r>
              <a:rPr lang="en-IN" sz="1800" dirty="0"/>
              <a:t>To study agricultural patterns and develop improved analytical models.</a:t>
            </a:r>
          </a:p>
          <a:p>
            <a:pPr algn="just">
              <a:lnSpc>
                <a:spcPct val="150000"/>
              </a:lnSpc>
            </a:pPr>
            <a:endParaRPr lang="en-IN" sz="1800" dirty="0"/>
          </a:p>
        </p:txBody>
      </p:sp>
      <p:sp>
        <p:nvSpPr>
          <p:cNvPr id="4" name="Title 3">
            <a:extLst>
              <a:ext uri="{FF2B5EF4-FFF2-40B4-BE49-F238E27FC236}">
                <a16:creationId xmlns:a16="http://schemas.microsoft.com/office/drawing/2014/main" id="{1A4A072B-83C6-4607-AE6A-5AD61CC72C44}"/>
              </a:ext>
            </a:extLst>
          </p:cNvPr>
          <p:cNvSpPr>
            <a:spLocks noGrp="1"/>
          </p:cNvSpPr>
          <p:nvPr>
            <p:ph type="title"/>
          </p:nvPr>
        </p:nvSpPr>
        <p:spPr>
          <a:xfrm>
            <a:off x="620008" y="876617"/>
            <a:ext cx="10046070" cy="802641"/>
          </a:xfrm>
        </p:spPr>
        <p:txBody>
          <a:bodyPr>
            <a:normAutofit/>
          </a:bodyPr>
          <a:lstStyle/>
          <a:p>
            <a:r>
              <a:rPr lang="en-US" sz="3200" dirty="0"/>
              <a:t>WHO ARE THE END USERS?</a:t>
            </a:r>
            <a:endParaRPr lang="en-IN" sz="2000" dirty="0"/>
          </a:p>
        </p:txBody>
      </p:sp>
      <p:pic>
        <p:nvPicPr>
          <p:cNvPr id="6" name="Picture 5">
            <a:extLst>
              <a:ext uri="{FF2B5EF4-FFF2-40B4-BE49-F238E27FC236}">
                <a16:creationId xmlns:a16="http://schemas.microsoft.com/office/drawing/2014/main" id="{E8B153BB-61B9-403F-8AE5-F75400450AC0}"/>
              </a:ext>
            </a:extLst>
          </p:cNvPr>
          <p:cNvPicPr>
            <a:picLocks noChangeAspect="1"/>
          </p:cNvPicPr>
          <p:nvPr/>
        </p:nvPicPr>
        <p:blipFill>
          <a:blip r:embed="rId2"/>
          <a:stretch>
            <a:fillRect/>
          </a:stretch>
        </p:blipFill>
        <p:spPr>
          <a:xfrm>
            <a:off x="721359" y="6176804"/>
            <a:ext cx="2181225" cy="485775"/>
          </a:xfrm>
          <a:prstGeom prst="rect">
            <a:avLst/>
          </a:prstGeom>
        </p:spPr>
      </p:pic>
    </p:spTree>
    <p:extLst>
      <p:ext uri="{BB962C8B-B14F-4D97-AF65-F5344CB8AC3E}">
        <p14:creationId xmlns:p14="http://schemas.microsoft.com/office/powerpoint/2010/main" val="48075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2">
                                            <p:txEl>
                                              <p:pRg st="1" end="1"/>
                                            </p:txEl>
                                          </p:spTgt>
                                        </p:tgtEl>
                                        <p:attrNameLst>
                                          <p:attrName>style.visibility</p:attrName>
                                        </p:attrNameLst>
                                      </p:cBhvr>
                                      <p:to>
                                        <p:strVal val="visible"/>
                                      </p:to>
                                    </p:set>
                                    <p:animEffect transition="in" filter="fade">
                                      <p:cBhvr>
                                        <p:cTn id="21" dur="1000"/>
                                        <p:tgtEl>
                                          <p:spTgt spid="2">
                                            <p:txEl>
                                              <p:pRg st="1" end="1"/>
                                            </p:txEl>
                                          </p:spTgt>
                                        </p:tgtEl>
                                      </p:cBhvr>
                                    </p:animEffect>
                                    <p:anim calcmode="lin" valueType="num">
                                      <p:cBhvr>
                                        <p:cTn id="22" dur="1000" fill="hold"/>
                                        <p:tgtEl>
                                          <p:spTgt spid="2">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2">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2">
                                            <p:txEl>
                                              <p:pRg st="2" end="2"/>
                                            </p:txEl>
                                          </p:spTgt>
                                        </p:tgtEl>
                                        <p:attrNameLst>
                                          <p:attrName>style.visibility</p:attrName>
                                        </p:attrNameLst>
                                      </p:cBhvr>
                                      <p:to>
                                        <p:strVal val="visible"/>
                                      </p:to>
                                    </p:set>
                                    <p:animEffect transition="in" filter="fade">
                                      <p:cBhvr>
                                        <p:cTn id="28" dur="1000"/>
                                        <p:tgtEl>
                                          <p:spTgt spid="2">
                                            <p:txEl>
                                              <p:pRg st="2" end="2"/>
                                            </p:txEl>
                                          </p:spTgt>
                                        </p:tgtEl>
                                      </p:cBhvr>
                                    </p:animEffect>
                                    <p:anim calcmode="lin" valueType="num">
                                      <p:cBhvr>
                                        <p:cTn id="29" dur="1000" fill="hold"/>
                                        <p:tgtEl>
                                          <p:spTgt spid="2">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2">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2">
                                            <p:txEl>
                                              <p:pRg st="3" end="3"/>
                                            </p:txEl>
                                          </p:spTgt>
                                        </p:tgtEl>
                                        <p:attrNameLst>
                                          <p:attrName>style.visibility</p:attrName>
                                        </p:attrNameLst>
                                      </p:cBhvr>
                                      <p:to>
                                        <p:strVal val="visible"/>
                                      </p:to>
                                    </p:set>
                                    <p:animEffect transition="in" filter="fade">
                                      <p:cBhvr>
                                        <p:cTn id="35" dur="1000"/>
                                        <p:tgtEl>
                                          <p:spTgt spid="2">
                                            <p:txEl>
                                              <p:pRg st="3" end="3"/>
                                            </p:txEl>
                                          </p:spTgt>
                                        </p:tgtEl>
                                      </p:cBhvr>
                                    </p:animEffect>
                                    <p:anim calcmode="lin" valueType="num">
                                      <p:cBhvr>
                                        <p:cTn id="36" dur="1000" fill="hold"/>
                                        <p:tgtEl>
                                          <p:spTgt spid="2">
                                            <p:txEl>
                                              <p:pRg st="3" end="3"/>
                                            </p:txEl>
                                          </p:spTgt>
                                        </p:tgtEl>
                                        <p:attrNameLst>
                                          <p:attrName>ppt_x</p:attrName>
                                        </p:attrNameLst>
                                      </p:cBhvr>
                                      <p:tavLst>
                                        <p:tav tm="0">
                                          <p:val>
                                            <p:strVal val="#ppt_x"/>
                                          </p:val>
                                        </p:tav>
                                        <p:tav tm="100000">
                                          <p:val>
                                            <p:strVal val="#ppt_x"/>
                                          </p:val>
                                        </p:tav>
                                      </p:tavLst>
                                    </p:anim>
                                    <p:anim calcmode="lin" valueType="num">
                                      <p:cBhvr>
                                        <p:cTn id="37" dur="1000" fill="hold"/>
                                        <p:tgtEl>
                                          <p:spTgt spid="2">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2">
                                            <p:txEl>
                                              <p:pRg st="4" end="4"/>
                                            </p:txEl>
                                          </p:spTgt>
                                        </p:tgtEl>
                                        <p:attrNameLst>
                                          <p:attrName>style.visibility</p:attrName>
                                        </p:attrNameLst>
                                      </p:cBhvr>
                                      <p:to>
                                        <p:strVal val="visible"/>
                                      </p:to>
                                    </p:set>
                                    <p:animEffect transition="in" filter="fade">
                                      <p:cBhvr>
                                        <p:cTn id="42" dur="1000"/>
                                        <p:tgtEl>
                                          <p:spTgt spid="2">
                                            <p:txEl>
                                              <p:pRg st="4" end="4"/>
                                            </p:txEl>
                                          </p:spTgt>
                                        </p:tgtEl>
                                      </p:cBhvr>
                                    </p:animEffect>
                                    <p:anim calcmode="lin" valueType="num">
                                      <p:cBhvr>
                                        <p:cTn id="43" dur="1000" fill="hold"/>
                                        <p:tgtEl>
                                          <p:spTgt spid="2">
                                            <p:txEl>
                                              <p:pRg st="4" end="4"/>
                                            </p:txEl>
                                          </p:spTgt>
                                        </p:tgtEl>
                                        <p:attrNameLst>
                                          <p:attrName>ppt_x</p:attrName>
                                        </p:attrNameLst>
                                      </p:cBhvr>
                                      <p:tavLst>
                                        <p:tav tm="0">
                                          <p:val>
                                            <p:strVal val="#ppt_x"/>
                                          </p:val>
                                        </p:tav>
                                        <p:tav tm="100000">
                                          <p:val>
                                            <p:strVal val="#ppt_x"/>
                                          </p:val>
                                        </p:tav>
                                      </p:tavLst>
                                    </p:anim>
                                    <p:anim calcmode="lin" valueType="num">
                                      <p:cBhvr>
                                        <p:cTn id="44" dur="1000" fill="hold"/>
                                        <p:tgtEl>
                                          <p:spTgt spid="2">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B7C27C4-3E14-490A-B132-CBBEDA1E905A}"/>
              </a:ext>
            </a:extLst>
          </p:cNvPr>
          <p:cNvPicPr>
            <a:picLocks noChangeAspect="1"/>
          </p:cNvPicPr>
          <p:nvPr/>
        </p:nvPicPr>
        <p:blipFill>
          <a:blip r:embed="rId3"/>
          <a:stretch>
            <a:fillRect/>
          </a:stretch>
        </p:blipFill>
        <p:spPr>
          <a:xfrm>
            <a:off x="467359" y="6410461"/>
            <a:ext cx="3706253" cy="296092"/>
          </a:xfrm>
          <a:prstGeom prst="rect">
            <a:avLst/>
          </a:prstGeom>
        </p:spPr>
      </p:pic>
      <p:pic>
        <p:nvPicPr>
          <p:cNvPr id="2" name="Picture 1">
            <a:extLst>
              <a:ext uri="{FF2B5EF4-FFF2-40B4-BE49-F238E27FC236}">
                <a16:creationId xmlns:a16="http://schemas.microsoft.com/office/drawing/2014/main" id="{F1FC3E39-8C60-4F64-9838-2A683F25B8C4}"/>
              </a:ext>
            </a:extLst>
          </p:cNvPr>
          <p:cNvPicPr>
            <a:picLocks noChangeAspect="1"/>
          </p:cNvPicPr>
          <p:nvPr/>
        </p:nvPicPr>
        <p:blipFill>
          <a:blip r:embed="rId4"/>
          <a:stretch>
            <a:fillRect/>
          </a:stretch>
        </p:blipFill>
        <p:spPr>
          <a:xfrm flipH="1">
            <a:off x="50800" y="3820160"/>
            <a:ext cx="1727200" cy="3010024"/>
          </a:xfrm>
          <a:prstGeom prst="rect">
            <a:avLst/>
          </a:prstGeom>
        </p:spPr>
      </p:pic>
      <p:sp>
        <p:nvSpPr>
          <p:cNvPr id="7" name="Text Placeholder 6">
            <a:extLst>
              <a:ext uri="{FF2B5EF4-FFF2-40B4-BE49-F238E27FC236}">
                <a16:creationId xmlns:a16="http://schemas.microsoft.com/office/drawing/2014/main" id="{B21C28F5-3CA3-4B78-B5C9-550C00BB3174}"/>
              </a:ext>
            </a:extLst>
          </p:cNvPr>
          <p:cNvSpPr>
            <a:spLocks noGrp="1"/>
          </p:cNvSpPr>
          <p:nvPr>
            <p:ph type="body" sz="quarter" idx="12"/>
          </p:nvPr>
        </p:nvSpPr>
        <p:spPr>
          <a:xfrm>
            <a:off x="1552754" y="1432560"/>
            <a:ext cx="7988061" cy="5243448"/>
          </a:xfrm>
        </p:spPr>
        <p:txBody>
          <a:bodyPr>
            <a:normAutofit fontScale="92500" lnSpcReduction="10000"/>
          </a:bodyPr>
          <a:lstStyle/>
          <a:p>
            <a:pPr marL="0" indent="0">
              <a:buNone/>
            </a:pPr>
            <a:r>
              <a:rPr lang="en-IN" b="1" dirty="0"/>
              <a:t>Programming Language:</a:t>
            </a:r>
            <a:r>
              <a:rPr lang="en-IN" dirty="0"/>
              <a:t> Python</a:t>
            </a:r>
          </a:p>
          <a:p>
            <a:pPr marL="0" indent="0">
              <a:buNone/>
            </a:pPr>
            <a:r>
              <a:rPr lang="en-IN" b="1" dirty="0"/>
              <a:t>Development Environment:</a:t>
            </a:r>
            <a:r>
              <a:rPr lang="en-IN" dirty="0"/>
              <a:t> Jupyter Notebook</a:t>
            </a:r>
          </a:p>
          <a:p>
            <a:pPr marL="0" indent="0">
              <a:buNone/>
            </a:pPr>
            <a:r>
              <a:rPr lang="en-IN" b="1" dirty="0"/>
              <a:t>Libraries:</a:t>
            </a:r>
            <a:endParaRPr lang="en-IN" dirty="0"/>
          </a:p>
          <a:p>
            <a:pPr marL="0" indent="0">
              <a:buNone/>
            </a:pPr>
            <a:r>
              <a:rPr lang="en-IN" dirty="0"/>
              <a:t>• Pandas – Data cleaning and analysis</a:t>
            </a:r>
            <a:br>
              <a:rPr lang="en-IN" dirty="0"/>
            </a:br>
            <a:r>
              <a:rPr lang="en-IN" dirty="0"/>
              <a:t>• NumPy – Numerical calculations</a:t>
            </a:r>
            <a:br>
              <a:rPr lang="en-IN" dirty="0"/>
            </a:br>
            <a:r>
              <a:rPr lang="en-IN" dirty="0"/>
              <a:t>• Matplotlib – Data visualization</a:t>
            </a:r>
            <a:br>
              <a:rPr lang="en-IN" dirty="0"/>
            </a:br>
            <a:r>
              <a:rPr lang="en-IN" dirty="0"/>
              <a:t>• SciPy – Statistical analysis</a:t>
            </a:r>
          </a:p>
          <a:p>
            <a:pPr marL="0" indent="0">
              <a:buNone/>
            </a:pPr>
            <a:r>
              <a:rPr lang="en-IN" b="1" dirty="0"/>
              <a:t>Dataset:</a:t>
            </a:r>
            <a:r>
              <a:rPr lang="en-IN" dirty="0"/>
              <a:t> CSV-based agricultural dataset</a:t>
            </a:r>
          </a:p>
          <a:p>
            <a:pPr marL="0" indent="0">
              <a:buNone/>
            </a:pPr>
            <a:r>
              <a:rPr lang="en-IN" b="1" dirty="0"/>
              <a:t>Techniques:</a:t>
            </a:r>
            <a:br>
              <a:rPr lang="en-IN" dirty="0"/>
            </a:br>
            <a:r>
              <a:rPr lang="en-IN" dirty="0"/>
              <a:t>Data Cleaning, Exploratory Data Analysis, Correlation Analysis, Statistical Testing and Data Visualization</a:t>
            </a:r>
          </a:p>
          <a:p>
            <a:pPr lvl="1">
              <a:lnSpc>
                <a:spcPct val="150000"/>
              </a:lnSpc>
            </a:pPr>
            <a:endParaRPr lang="en-IN" dirty="0"/>
          </a:p>
        </p:txBody>
      </p:sp>
      <p:sp>
        <p:nvSpPr>
          <p:cNvPr id="9" name="Title 8">
            <a:extLst>
              <a:ext uri="{FF2B5EF4-FFF2-40B4-BE49-F238E27FC236}">
                <a16:creationId xmlns:a16="http://schemas.microsoft.com/office/drawing/2014/main" id="{FEF304F5-32C5-4869-B185-859B567855A8}"/>
              </a:ext>
            </a:extLst>
          </p:cNvPr>
          <p:cNvSpPr>
            <a:spLocks noGrp="1"/>
          </p:cNvSpPr>
          <p:nvPr>
            <p:ph type="title"/>
          </p:nvPr>
        </p:nvSpPr>
        <p:spPr>
          <a:xfrm>
            <a:off x="660399" y="430567"/>
            <a:ext cx="5306291" cy="847817"/>
          </a:xfrm>
        </p:spPr>
        <p:txBody>
          <a:bodyPr>
            <a:normAutofit/>
          </a:bodyPr>
          <a:lstStyle/>
          <a:p>
            <a:r>
              <a:rPr lang="en-US" dirty="0"/>
              <a:t>Technology Used</a:t>
            </a:r>
          </a:p>
        </p:txBody>
      </p:sp>
    </p:spTree>
    <p:extLst>
      <p:ext uri="{BB962C8B-B14F-4D97-AF65-F5344CB8AC3E}">
        <p14:creationId xmlns:p14="http://schemas.microsoft.com/office/powerpoint/2010/main" val="1341901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p:cTn id="7" dur="500" fill="hold"/>
                                        <p:tgtEl>
                                          <p:spTgt spid="9"/>
                                        </p:tgtEl>
                                        <p:attrNameLst>
                                          <p:attrName>ppt_w</p:attrName>
                                        </p:attrNameLst>
                                      </p:cBhvr>
                                      <p:tavLst>
                                        <p:tav tm="0">
                                          <p:val>
                                            <p:fltVal val="0"/>
                                          </p:val>
                                        </p:tav>
                                        <p:tav tm="100000">
                                          <p:val>
                                            <p:strVal val="#ppt_w"/>
                                          </p:val>
                                        </p:tav>
                                      </p:tavLst>
                                    </p:anim>
                                    <p:anim calcmode="lin" valueType="num">
                                      <p:cBhvr>
                                        <p:cTn id="8" dur="500" fill="hold"/>
                                        <p:tgtEl>
                                          <p:spTgt spid="9"/>
                                        </p:tgtEl>
                                        <p:attrNameLst>
                                          <p:attrName>ppt_h</p:attrName>
                                        </p:attrNameLst>
                                      </p:cBhvr>
                                      <p:tavLst>
                                        <p:tav tm="0">
                                          <p:val>
                                            <p:fltVal val="0"/>
                                          </p:val>
                                        </p:tav>
                                        <p:tav tm="100000">
                                          <p:val>
                                            <p:strVal val="#ppt_h"/>
                                          </p:val>
                                        </p:tav>
                                      </p:tavLst>
                                    </p:anim>
                                    <p:animEffect transition="in" filter="fade">
                                      <p:cBhvr>
                                        <p:cTn id="9" dur="500"/>
                                        <p:tgtEl>
                                          <p:spTgt spid="9"/>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xEl>
                                              <p:pRg st="0" end="0"/>
                                            </p:txEl>
                                          </p:spTgt>
                                        </p:tgtEl>
                                        <p:attrNameLst>
                                          <p:attrName>style.visibility</p:attrName>
                                        </p:attrNameLst>
                                      </p:cBhvr>
                                      <p:to>
                                        <p:strVal val="visible"/>
                                      </p:to>
                                    </p:set>
                                    <p:animEffect transition="in" filter="fade">
                                      <p:cBhvr>
                                        <p:cTn id="14" dur="1000"/>
                                        <p:tgtEl>
                                          <p:spTgt spid="7">
                                            <p:txEl>
                                              <p:pRg st="0" end="0"/>
                                            </p:txEl>
                                          </p:spTgt>
                                        </p:tgtEl>
                                      </p:cBhvr>
                                    </p:animEffect>
                                    <p:anim calcmode="lin" valueType="num">
                                      <p:cBhvr>
                                        <p:cTn id="15"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7">
                                            <p:txEl>
                                              <p:pRg st="1" end="1"/>
                                            </p:txEl>
                                          </p:spTgt>
                                        </p:tgtEl>
                                        <p:attrNameLst>
                                          <p:attrName>style.visibility</p:attrName>
                                        </p:attrNameLst>
                                      </p:cBhvr>
                                      <p:to>
                                        <p:strVal val="visible"/>
                                      </p:to>
                                    </p:set>
                                    <p:animEffect transition="in" filter="fade">
                                      <p:cBhvr>
                                        <p:cTn id="21" dur="1000"/>
                                        <p:tgtEl>
                                          <p:spTgt spid="7">
                                            <p:txEl>
                                              <p:pRg st="1" end="1"/>
                                            </p:txEl>
                                          </p:spTgt>
                                        </p:tgtEl>
                                      </p:cBhvr>
                                    </p:animEffect>
                                    <p:anim calcmode="lin" valueType="num">
                                      <p:cBhvr>
                                        <p:cTn id="22" dur="1000" fill="hold"/>
                                        <p:tgtEl>
                                          <p:spTgt spid="7">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7">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7">
                                            <p:txEl>
                                              <p:pRg st="2" end="2"/>
                                            </p:txEl>
                                          </p:spTgt>
                                        </p:tgtEl>
                                        <p:attrNameLst>
                                          <p:attrName>style.visibility</p:attrName>
                                        </p:attrNameLst>
                                      </p:cBhvr>
                                      <p:to>
                                        <p:strVal val="visible"/>
                                      </p:to>
                                    </p:set>
                                    <p:animEffect transition="in" filter="fade">
                                      <p:cBhvr>
                                        <p:cTn id="28" dur="1000"/>
                                        <p:tgtEl>
                                          <p:spTgt spid="7">
                                            <p:txEl>
                                              <p:pRg st="2" end="2"/>
                                            </p:txEl>
                                          </p:spTgt>
                                        </p:tgtEl>
                                      </p:cBhvr>
                                    </p:animEffect>
                                    <p:anim calcmode="lin" valueType="num">
                                      <p:cBhvr>
                                        <p:cTn id="29"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7">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7">
                                            <p:txEl>
                                              <p:pRg st="3" end="3"/>
                                            </p:txEl>
                                          </p:spTgt>
                                        </p:tgtEl>
                                        <p:attrNameLst>
                                          <p:attrName>style.visibility</p:attrName>
                                        </p:attrNameLst>
                                      </p:cBhvr>
                                      <p:to>
                                        <p:strVal val="visible"/>
                                      </p:to>
                                    </p:set>
                                    <p:animEffect transition="in" filter="fade">
                                      <p:cBhvr>
                                        <p:cTn id="35" dur="1000"/>
                                        <p:tgtEl>
                                          <p:spTgt spid="7">
                                            <p:txEl>
                                              <p:pRg st="3" end="3"/>
                                            </p:txEl>
                                          </p:spTgt>
                                        </p:tgtEl>
                                      </p:cBhvr>
                                    </p:animEffect>
                                    <p:anim calcmode="lin" valueType="num">
                                      <p:cBhvr>
                                        <p:cTn id="36" dur="1000" fill="hold"/>
                                        <p:tgtEl>
                                          <p:spTgt spid="7">
                                            <p:txEl>
                                              <p:pRg st="3" end="3"/>
                                            </p:txEl>
                                          </p:spTgt>
                                        </p:tgtEl>
                                        <p:attrNameLst>
                                          <p:attrName>ppt_x</p:attrName>
                                        </p:attrNameLst>
                                      </p:cBhvr>
                                      <p:tavLst>
                                        <p:tav tm="0">
                                          <p:val>
                                            <p:strVal val="#ppt_x"/>
                                          </p:val>
                                        </p:tav>
                                        <p:tav tm="100000">
                                          <p:val>
                                            <p:strVal val="#ppt_x"/>
                                          </p:val>
                                        </p:tav>
                                      </p:tavLst>
                                    </p:anim>
                                    <p:anim calcmode="lin" valueType="num">
                                      <p:cBhvr>
                                        <p:cTn id="37" dur="1000" fill="hold"/>
                                        <p:tgtEl>
                                          <p:spTgt spid="7">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7">
                                            <p:txEl>
                                              <p:pRg st="4" end="4"/>
                                            </p:txEl>
                                          </p:spTgt>
                                        </p:tgtEl>
                                        <p:attrNameLst>
                                          <p:attrName>style.visibility</p:attrName>
                                        </p:attrNameLst>
                                      </p:cBhvr>
                                      <p:to>
                                        <p:strVal val="visible"/>
                                      </p:to>
                                    </p:set>
                                    <p:animEffect transition="in" filter="fade">
                                      <p:cBhvr>
                                        <p:cTn id="42" dur="1000"/>
                                        <p:tgtEl>
                                          <p:spTgt spid="7">
                                            <p:txEl>
                                              <p:pRg st="4" end="4"/>
                                            </p:txEl>
                                          </p:spTgt>
                                        </p:tgtEl>
                                      </p:cBhvr>
                                    </p:animEffect>
                                    <p:anim calcmode="lin" valueType="num">
                                      <p:cBhvr>
                                        <p:cTn id="43" dur="1000" fill="hold"/>
                                        <p:tgtEl>
                                          <p:spTgt spid="7">
                                            <p:txEl>
                                              <p:pRg st="4" end="4"/>
                                            </p:txEl>
                                          </p:spTgt>
                                        </p:tgtEl>
                                        <p:attrNameLst>
                                          <p:attrName>ppt_x</p:attrName>
                                        </p:attrNameLst>
                                      </p:cBhvr>
                                      <p:tavLst>
                                        <p:tav tm="0">
                                          <p:val>
                                            <p:strVal val="#ppt_x"/>
                                          </p:val>
                                        </p:tav>
                                        <p:tav tm="100000">
                                          <p:val>
                                            <p:strVal val="#ppt_x"/>
                                          </p:val>
                                        </p:tav>
                                      </p:tavLst>
                                    </p:anim>
                                    <p:anim calcmode="lin" valueType="num">
                                      <p:cBhvr>
                                        <p:cTn id="44" dur="1000" fill="hold"/>
                                        <p:tgtEl>
                                          <p:spTgt spid="7">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7">
                                            <p:txEl>
                                              <p:pRg st="5" end="5"/>
                                            </p:txEl>
                                          </p:spTgt>
                                        </p:tgtEl>
                                        <p:attrNameLst>
                                          <p:attrName>style.visibility</p:attrName>
                                        </p:attrNameLst>
                                      </p:cBhvr>
                                      <p:to>
                                        <p:strVal val="visible"/>
                                      </p:to>
                                    </p:set>
                                    <p:animEffect transition="in" filter="fade">
                                      <p:cBhvr>
                                        <p:cTn id="49" dur="1000"/>
                                        <p:tgtEl>
                                          <p:spTgt spid="7">
                                            <p:txEl>
                                              <p:pRg st="5" end="5"/>
                                            </p:txEl>
                                          </p:spTgt>
                                        </p:tgtEl>
                                      </p:cBhvr>
                                    </p:animEffect>
                                    <p:anim calcmode="lin" valueType="num">
                                      <p:cBhvr>
                                        <p:cTn id="50" dur="1000" fill="hold"/>
                                        <p:tgtEl>
                                          <p:spTgt spid="7">
                                            <p:txEl>
                                              <p:pRg st="5" end="5"/>
                                            </p:txEl>
                                          </p:spTgt>
                                        </p:tgtEl>
                                        <p:attrNameLst>
                                          <p:attrName>ppt_x</p:attrName>
                                        </p:attrNameLst>
                                      </p:cBhvr>
                                      <p:tavLst>
                                        <p:tav tm="0">
                                          <p:val>
                                            <p:strVal val="#ppt_x"/>
                                          </p:val>
                                        </p:tav>
                                        <p:tav tm="100000">
                                          <p:val>
                                            <p:strVal val="#ppt_x"/>
                                          </p:val>
                                        </p:tav>
                                      </p:tavLst>
                                    </p:anim>
                                    <p:anim calcmode="lin" valueType="num">
                                      <p:cBhvr>
                                        <p:cTn id="51" dur="1000" fill="hold"/>
                                        <p:tgtEl>
                                          <p:spTgt spid="7">
                                            <p:txEl>
                                              <p:pRg st="5" end="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BB0C869-7C5C-4070-BD4D-F3FC2DA8F3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AFE3A2AF-177E-45E6-A191-0F8523DB7FF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372426BE-BEE7-4A6D-BCD2-059615BBCE25}"/>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E61E227A-5883-4C77-B25A-46A22FFDF41F}"/>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B19D8AC7-3787-4ADB-9212-0808F015C2DD}"/>
              </a:ext>
            </a:extLst>
          </p:cNvPr>
          <p:cNvSpPr>
            <a:spLocks noGrp="1"/>
          </p:cNvSpPr>
          <p:nvPr>
            <p:ph type="body" sz="quarter" idx="12"/>
          </p:nvPr>
        </p:nvSpPr>
        <p:spPr>
          <a:xfrm>
            <a:off x="675958" y="1104180"/>
            <a:ext cx="4879454" cy="5495027"/>
          </a:xfrm>
        </p:spPr>
        <p:txBody>
          <a:bodyPr vert="horz" lIns="91440" tIns="45720" rIns="91440" bIns="45720" rtlCol="0" anchor="t">
            <a:normAutofit lnSpcReduction="10000"/>
          </a:bodyPr>
          <a:lstStyle/>
          <a:p>
            <a:pPr marL="0" indent="0">
              <a:buNone/>
            </a:pPr>
            <a:r>
              <a:rPr lang="en-IN" dirty="0"/>
              <a:t>This heatmap shows the average yield across different states and seasons. The rows represent states and the columns represent Kharif, Rabi and Zaid seasons. The colour indicates the average yield, where yellow represents higher values and darker colours represent lower values. We can see that Punjab has the highest average yield in Rabi, at around 8.61 tonnes per hectare. Karnataka also performs very well during Zaid, at around 6.63 tonnes per hectare. On the other hand, Maharashtra has a relatively low Zaid yield of around 2.28 tonnes per hectare. Overall, this shows that seasonal agricultural performance varies from state to state, so agricultural planning should consider regional conditions.</a:t>
            </a:r>
          </a:p>
        </p:txBody>
      </p:sp>
      <p:pic>
        <p:nvPicPr>
          <p:cNvPr id="12" name="Picture 11">
            <a:extLst>
              <a:ext uri="{FF2B5EF4-FFF2-40B4-BE49-F238E27FC236}">
                <a16:creationId xmlns:a16="http://schemas.microsoft.com/office/drawing/2014/main" id="{EF25E357-2AE5-A2A3-77A8-DBCE1AD427A1}"/>
              </a:ext>
            </a:extLst>
          </p:cNvPr>
          <p:cNvPicPr>
            <a:picLocks noChangeAspect="1"/>
          </p:cNvPicPr>
          <p:nvPr/>
        </p:nvPicPr>
        <p:blipFill>
          <a:blip r:embed="rId3"/>
          <a:stretch>
            <a:fillRect/>
          </a:stretch>
        </p:blipFill>
        <p:spPr>
          <a:xfrm>
            <a:off x="5769654" y="563629"/>
            <a:ext cx="5205800" cy="6101331"/>
          </a:xfrm>
          <a:prstGeom prst="rect">
            <a:avLst/>
          </a:prstGeom>
        </p:spPr>
      </p:pic>
    </p:spTree>
    <p:extLst>
      <p:ext uri="{BB962C8B-B14F-4D97-AF65-F5344CB8AC3E}">
        <p14:creationId xmlns:p14="http://schemas.microsoft.com/office/powerpoint/2010/main" val="1086225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AAE43-B138-25CD-D01F-41DB388556C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FCF24DA-3CDC-4D87-9335-AB913C783F76}"/>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6D5AF756-BADB-9E87-14AC-F87A8C7463BF}"/>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716F3BA-AE41-9B35-3BCA-353F205375D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E149068-B429-662F-714A-0DD8CE171A51}"/>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3A64DB11-806F-1A4C-E0D5-D745D29CED50}"/>
              </a:ext>
            </a:extLst>
          </p:cNvPr>
          <p:cNvSpPr>
            <a:spLocks noGrp="1"/>
          </p:cNvSpPr>
          <p:nvPr>
            <p:ph type="body" sz="quarter" idx="12"/>
          </p:nvPr>
        </p:nvSpPr>
        <p:spPr>
          <a:xfrm>
            <a:off x="675957" y="1431693"/>
            <a:ext cx="4525771" cy="4300364"/>
          </a:xfrm>
        </p:spPr>
        <p:txBody>
          <a:bodyPr>
            <a:normAutofit/>
          </a:bodyPr>
          <a:lstStyle/>
          <a:p>
            <a:pPr marL="0" indent="0">
              <a:buNone/>
            </a:pPr>
            <a:r>
              <a:rPr lang="en-IN" dirty="0"/>
              <a:t>This graph represents the average rainfall for each season. We can see that Kharif receives the highest average rainfall, approximately 849 </a:t>
            </a:r>
            <a:r>
              <a:rPr lang="en-IN" dirty="0" err="1"/>
              <a:t>millimeters</a:t>
            </a:r>
            <a:r>
              <a:rPr lang="en-IN" dirty="0"/>
              <a:t>. Rabi receives around 438 </a:t>
            </a:r>
            <a:r>
              <a:rPr lang="en-IN" dirty="0" err="1"/>
              <a:t>millimeters</a:t>
            </a:r>
            <a:r>
              <a:rPr lang="en-IN" dirty="0"/>
              <a:t>, while Zaid receives around 305 </a:t>
            </a:r>
            <a:r>
              <a:rPr lang="en-IN" dirty="0" err="1"/>
              <a:t>millimeters</a:t>
            </a:r>
            <a:r>
              <a:rPr lang="en-IN" dirty="0"/>
              <a:t>. Therefore, there is a clear decrease in rainfall from Kharif to Zaid. This environmental difference provides useful context when comparing agricultural performance across the three seasons.</a:t>
            </a:r>
          </a:p>
        </p:txBody>
      </p:sp>
      <p:pic>
        <p:nvPicPr>
          <p:cNvPr id="9" name="Picture 8">
            <a:extLst>
              <a:ext uri="{FF2B5EF4-FFF2-40B4-BE49-F238E27FC236}">
                <a16:creationId xmlns:a16="http://schemas.microsoft.com/office/drawing/2014/main" id="{5C678D9E-D63A-51FF-5972-96D0D3B98F28}"/>
              </a:ext>
            </a:extLst>
          </p:cNvPr>
          <p:cNvPicPr>
            <a:picLocks noChangeAspect="1"/>
          </p:cNvPicPr>
          <p:nvPr/>
        </p:nvPicPr>
        <p:blipFill>
          <a:blip r:embed="rId3"/>
          <a:stretch>
            <a:fillRect/>
          </a:stretch>
        </p:blipFill>
        <p:spPr>
          <a:xfrm>
            <a:off x="5556703" y="1085171"/>
            <a:ext cx="5557273" cy="5229386"/>
          </a:xfrm>
          <a:prstGeom prst="rect">
            <a:avLst/>
          </a:prstGeom>
        </p:spPr>
      </p:pic>
    </p:spTree>
    <p:extLst>
      <p:ext uri="{BB962C8B-B14F-4D97-AF65-F5344CB8AC3E}">
        <p14:creationId xmlns:p14="http://schemas.microsoft.com/office/powerpoint/2010/main" val="3849627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9E943-C59C-1D86-29CA-F786C47BABA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EC6E6C7-69F2-D361-F3CC-FC5268D9BC8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DFCD5524-F764-DC63-6F54-D48057CF17B7}"/>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B1E3463-DEAD-53DD-2AC0-E8A458421D0B}"/>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B713140B-3822-90E0-F216-B77A695B86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B6E3B1C7-6A8B-23EE-6251-DC1067C6ADE9}"/>
              </a:ext>
            </a:extLst>
          </p:cNvPr>
          <p:cNvSpPr>
            <a:spLocks noGrp="1"/>
          </p:cNvSpPr>
          <p:nvPr>
            <p:ph type="body" sz="quarter" idx="12"/>
          </p:nvPr>
        </p:nvSpPr>
        <p:spPr>
          <a:xfrm>
            <a:off x="675957" y="1431692"/>
            <a:ext cx="4534397" cy="5040228"/>
          </a:xfrm>
        </p:spPr>
        <p:txBody>
          <a:bodyPr>
            <a:normAutofit fontScale="92500" lnSpcReduction="10000"/>
          </a:bodyPr>
          <a:lstStyle/>
          <a:p>
            <a:pPr marL="0" indent="0">
              <a:buNone/>
            </a:pPr>
            <a:r>
              <a:rPr lang="en-IN" dirty="0"/>
              <a:t>This scatter plot shows the relationship between water efficiency and agricultural yield. The X-axis represents water efficiency in tonnes per 1,000 cubic meters, while the Y-axis represents yield in tonnes per hectare. Each point represents an observation from the dataset. We can see an overall upward pattern, which means that higher water-efficiency values are generally associated with higher yields. Our correlation analysis gives a value of approximately 0.91, indicating a strong positive relationship. However, this is a correlation and does not mean that water efficiency alone causes higher yield, because other agricultural factors can also influence production.</a:t>
            </a:r>
          </a:p>
        </p:txBody>
      </p:sp>
      <p:pic>
        <p:nvPicPr>
          <p:cNvPr id="3" name="Picture 2">
            <a:extLst>
              <a:ext uri="{FF2B5EF4-FFF2-40B4-BE49-F238E27FC236}">
                <a16:creationId xmlns:a16="http://schemas.microsoft.com/office/drawing/2014/main" id="{CB84D034-BAFE-E6B1-B654-496DDED14F6A}"/>
              </a:ext>
            </a:extLst>
          </p:cNvPr>
          <p:cNvPicPr>
            <a:picLocks noChangeAspect="1"/>
          </p:cNvPicPr>
          <p:nvPr/>
        </p:nvPicPr>
        <p:blipFill>
          <a:blip r:embed="rId3"/>
          <a:stretch>
            <a:fillRect/>
          </a:stretch>
        </p:blipFill>
        <p:spPr>
          <a:xfrm>
            <a:off x="5658929" y="720484"/>
            <a:ext cx="5582140" cy="5847956"/>
          </a:xfrm>
          <a:prstGeom prst="rect">
            <a:avLst/>
          </a:prstGeom>
        </p:spPr>
      </p:pic>
    </p:spTree>
    <p:extLst>
      <p:ext uri="{BB962C8B-B14F-4D97-AF65-F5344CB8AC3E}">
        <p14:creationId xmlns:p14="http://schemas.microsoft.com/office/powerpoint/2010/main" val="1698901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05AC1B-54F8-474D-6B86-CF23FDF34B0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E9D7CE81-8696-30A4-F33E-B4B569D3502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15FD49EE-0956-AAE3-737B-15F7D4267C1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D224F8B1-34DD-5A54-7F70-25EBA532E6E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5A36120-3EFF-6A69-8D23-42BFD883ADDA}"/>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2B7B89A1-9444-8322-CADC-42D31D698FA8}"/>
              </a:ext>
            </a:extLst>
          </p:cNvPr>
          <p:cNvSpPr>
            <a:spLocks noGrp="1"/>
          </p:cNvSpPr>
          <p:nvPr>
            <p:ph type="body" sz="quarter" idx="12"/>
          </p:nvPr>
        </p:nvSpPr>
        <p:spPr>
          <a:xfrm>
            <a:off x="675957" y="1431693"/>
            <a:ext cx="4499891" cy="5055718"/>
          </a:xfrm>
        </p:spPr>
        <p:txBody>
          <a:bodyPr>
            <a:normAutofit fontScale="92500" lnSpcReduction="20000"/>
          </a:bodyPr>
          <a:lstStyle/>
          <a:p>
            <a:pPr marL="0" indent="0">
              <a:buNone/>
            </a:pPr>
            <a:r>
              <a:rPr lang="en-IN" dirty="0"/>
              <a:t>This is my multivariate analysis, where I am comparing three different performance indicators together: average yield, average profit and average water efficiency. Since these variables have different units and scales, I normalized their values between zero and one. Kharif reaches the highest normalized value across all three indicators, while Rabi has intermediate values. Zaid has a normalized value of zero because it has the lowest value among the three seasons for these indicators. This graph therefore shows that Kharif has the strongest overall performance across these selected </a:t>
            </a:r>
            <a:r>
              <a:rPr lang="en-IN" dirty="0" err="1"/>
              <a:t>indicators.The</a:t>
            </a:r>
            <a:r>
              <a:rPr lang="en-IN" dirty="0"/>
              <a:t> zero value for Zaid does not mean that there is no data for Zaid. It means that Zaid is the minimum reference value after normalization.</a:t>
            </a:r>
          </a:p>
        </p:txBody>
      </p:sp>
      <p:pic>
        <p:nvPicPr>
          <p:cNvPr id="3" name="Picture 2">
            <a:extLst>
              <a:ext uri="{FF2B5EF4-FFF2-40B4-BE49-F238E27FC236}">
                <a16:creationId xmlns:a16="http://schemas.microsoft.com/office/drawing/2014/main" id="{7CAEC745-63F4-C7BB-DF60-D9DE8D2B21C7}"/>
              </a:ext>
            </a:extLst>
          </p:cNvPr>
          <p:cNvPicPr>
            <a:picLocks noChangeAspect="1"/>
          </p:cNvPicPr>
          <p:nvPr/>
        </p:nvPicPr>
        <p:blipFill>
          <a:blip r:embed="rId3"/>
          <a:stretch>
            <a:fillRect/>
          </a:stretch>
        </p:blipFill>
        <p:spPr>
          <a:xfrm>
            <a:off x="5400136" y="641734"/>
            <a:ext cx="5648220" cy="5830186"/>
          </a:xfrm>
          <a:prstGeom prst="rect">
            <a:avLst/>
          </a:prstGeom>
        </p:spPr>
      </p:pic>
    </p:spTree>
    <p:extLst>
      <p:ext uri="{BB962C8B-B14F-4D97-AF65-F5344CB8AC3E}">
        <p14:creationId xmlns:p14="http://schemas.microsoft.com/office/powerpoint/2010/main" val="1903979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30C45-6A74-29AD-A5C0-D5F36592DB69}"/>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9E7611FF-D6E5-400F-ED75-6F5531CFA95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9E35150-35BD-1B1F-9A8C-890DBFDF3B54}"/>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5A2A9BCE-A757-223C-2A3D-44341FB27A6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1EED58A7-2CD5-1355-8D1D-DD62A1ED8C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F85C769B-425A-FE3B-E47A-3B747985DC52}"/>
              </a:ext>
            </a:extLst>
          </p:cNvPr>
          <p:cNvSpPr>
            <a:spLocks noGrp="1"/>
          </p:cNvSpPr>
          <p:nvPr>
            <p:ph type="body" sz="quarter" idx="12"/>
          </p:nvPr>
        </p:nvSpPr>
        <p:spPr>
          <a:xfrm>
            <a:off x="675957" y="1431693"/>
            <a:ext cx="4406345" cy="5055718"/>
          </a:xfrm>
        </p:spPr>
        <p:txBody>
          <a:bodyPr>
            <a:normAutofit/>
          </a:bodyPr>
          <a:lstStyle/>
          <a:p>
            <a:pPr marL="0" indent="0">
              <a:buNone/>
            </a:pPr>
            <a:r>
              <a:rPr lang="en-IN" dirty="0"/>
              <a:t>This histogram represents the distribution of agricultural yield across the farms. The majority of observations are concentrated at relatively lower yield values, while a smaller number of observations have much higher yields. This creates a strong right-skewed distribution with a long tail toward higher values. One possible reason is that the dataset contains different types of crops, which naturally have very different yield ranges. Therefore, these high values should be investigated rather than automatically treated as errors.</a:t>
            </a:r>
          </a:p>
        </p:txBody>
      </p:sp>
      <p:pic>
        <p:nvPicPr>
          <p:cNvPr id="3" name="Picture 2">
            <a:extLst>
              <a:ext uri="{FF2B5EF4-FFF2-40B4-BE49-F238E27FC236}">
                <a16:creationId xmlns:a16="http://schemas.microsoft.com/office/drawing/2014/main" id="{443B5E72-10D7-A142-A752-8507D03FEC09}"/>
              </a:ext>
            </a:extLst>
          </p:cNvPr>
          <p:cNvPicPr>
            <a:picLocks noChangeAspect="1"/>
          </p:cNvPicPr>
          <p:nvPr/>
        </p:nvPicPr>
        <p:blipFill>
          <a:blip r:embed="rId3"/>
          <a:stretch>
            <a:fillRect/>
          </a:stretch>
        </p:blipFill>
        <p:spPr>
          <a:xfrm>
            <a:off x="5194922" y="595223"/>
            <a:ext cx="5958310" cy="5973217"/>
          </a:xfrm>
          <a:prstGeom prst="rect">
            <a:avLst/>
          </a:prstGeom>
        </p:spPr>
      </p:pic>
    </p:spTree>
    <p:extLst>
      <p:ext uri="{BB962C8B-B14F-4D97-AF65-F5344CB8AC3E}">
        <p14:creationId xmlns:p14="http://schemas.microsoft.com/office/powerpoint/2010/main" val="1421522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E94ED-1743-306E-1CA1-9410A2B5099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04506C61-5206-F1DF-9994-DED24DFB1C6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B097C2C-D75A-31D4-CD9F-366F39CDE51D}"/>
              </a:ext>
            </a:extLst>
          </p:cNvPr>
          <p:cNvSpPr>
            <a:spLocks noGrp="1"/>
          </p:cNvSpPr>
          <p:nvPr>
            <p:ph type="title"/>
          </p:nvPr>
        </p:nvSpPr>
        <p:spPr>
          <a:xfrm>
            <a:off x="675956" y="370589"/>
            <a:ext cx="7959085" cy="811230"/>
          </a:xfrm>
        </p:spPr>
        <p:txBody>
          <a:bodyPr>
            <a:normAutofit fontScale="90000"/>
          </a:bodyPr>
          <a:lstStyle/>
          <a:p>
            <a:r>
              <a:rPr lang="en-IN" sz="4000" dirty="0"/>
              <a:t>Future scope</a:t>
            </a:r>
            <a:br>
              <a:rPr lang="en-IN" sz="4000" dirty="0"/>
            </a:br>
            <a:br>
              <a:rPr lang="en-IN" sz="4000" dirty="0"/>
            </a:br>
            <a:r>
              <a:rPr lang="en-IN" sz="2000" b="0" dirty="0"/>
              <a:t>• Use multi-year agricultural data for more reliable seasonal analysis.</a:t>
            </a:r>
            <a:br>
              <a:rPr lang="en-IN" sz="2000" b="0" dirty="0"/>
            </a:br>
            <a:br>
              <a:rPr lang="en-IN" sz="2000" b="0" dirty="0"/>
            </a:br>
            <a:r>
              <a:rPr lang="en-IN" sz="2000" b="0" dirty="0"/>
              <a:t>• Integrate historical and forecasted weather data.</a:t>
            </a:r>
            <a:br>
              <a:rPr lang="en-IN" sz="2000" b="0" dirty="0"/>
            </a:br>
            <a:br>
              <a:rPr lang="en-IN" sz="2000" b="0" dirty="0"/>
            </a:br>
            <a:r>
              <a:rPr lang="en-IN" sz="2000" b="0" dirty="0"/>
              <a:t>• Develop crop- and region-specific recommendation systems.</a:t>
            </a:r>
            <a:br>
              <a:rPr lang="en-IN" sz="2000" b="0" dirty="0"/>
            </a:br>
            <a:br>
              <a:rPr lang="en-IN" sz="2000" b="0" dirty="0"/>
            </a:br>
            <a:r>
              <a:rPr lang="en-IN" sz="2000" b="0" dirty="0"/>
              <a:t>• Build machine-learning models for yield and profit prediction.</a:t>
            </a:r>
            <a:br>
              <a:rPr lang="en-IN" sz="2000" b="0" dirty="0"/>
            </a:br>
            <a:br>
              <a:rPr lang="en-IN" sz="2000" b="0" dirty="0"/>
            </a:br>
            <a:r>
              <a:rPr lang="en-IN" sz="2000" b="0" dirty="0"/>
              <a:t>• Include market-price forecasting.</a:t>
            </a:r>
            <a:br>
              <a:rPr lang="en-IN" sz="2000" b="0" dirty="0"/>
            </a:br>
            <a:br>
              <a:rPr lang="en-IN" sz="2000" b="0" dirty="0"/>
            </a:br>
            <a:r>
              <a:rPr lang="en-IN" sz="2000" b="0" dirty="0"/>
              <a:t>• Develop an interactive agricultural dashboard.</a:t>
            </a:r>
            <a:br>
              <a:rPr lang="en-IN" sz="2000" b="0" dirty="0"/>
            </a:br>
            <a:br>
              <a:rPr lang="en-IN" sz="2000" b="0" dirty="0"/>
            </a:br>
            <a:r>
              <a:rPr lang="en-IN" sz="2000" b="0" dirty="0"/>
              <a:t>• Monitor irrigation, fertilizer and pesticide efficiency over time.</a:t>
            </a:r>
            <a:br>
              <a:rPr lang="en-IN" sz="2000" b="0" dirty="0"/>
            </a:br>
            <a:br>
              <a:rPr lang="en-IN" sz="2000" b="0" dirty="0"/>
            </a:br>
            <a:endParaRPr lang="en-IN" sz="2000" b="0" dirty="0"/>
          </a:p>
        </p:txBody>
      </p:sp>
      <p:sp>
        <p:nvSpPr>
          <p:cNvPr id="7" name="Text Placeholder 30">
            <a:extLst>
              <a:ext uri="{FF2B5EF4-FFF2-40B4-BE49-F238E27FC236}">
                <a16:creationId xmlns:a16="http://schemas.microsoft.com/office/drawing/2014/main" id="{B7444DDE-63A3-9721-77CC-C93FED110DAF}"/>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C8A8B73-0C64-E012-F561-D7FE5E322230}"/>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Tree>
    <p:extLst>
      <p:ext uri="{BB962C8B-B14F-4D97-AF65-F5344CB8AC3E}">
        <p14:creationId xmlns:p14="http://schemas.microsoft.com/office/powerpoint/2010/main" val="776828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7316CE-193E-3D5D-C15A-98517303A13F}"/>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D44118A-0276-9E2F-E0E8-85CEE9F1E0C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01A2257-2F98-CB88-038E-C0F1D0A1A363}"/>
              </a:ext>
            </a:extLst>
          </p:cNvPr>
          <p:cNvSpPr>
            <a:spLocks noGrp="1"/>
          </p:cNvSpPr>
          <p:nvPr>
            <p:ph type="title"/>
          </p:nvPr>
        </p:nvSpPr>
        <p:spPr>
          <a:xfrm>
            <a:off x="675957" y="193040"/>
            <a:ext cx="4735798" cy="462568"/>
          </a:xfrm>
        </p:spPr>
        <p:txBody>
          <a:bodyPr>
            <a:normAutofit fontScale="90000"/>
          </a:bodyPr>
          <a:lstStyle/>
          <a:p>
            <a:r>
              <a:rPr lang="en-IN" sz="4000" dirty="0"/>
              <a:t>GitHub Link</a:t>
            </a:r>
          </a:p>
        </p:txBody>
      </p:sp>
      <p:sp>
        <p:nvSpPr>
          <p:cNvPr id="7" name="Text Placeholder 30">
            <a:extLst>
              <a:ext uri="{FF2B5EF4-FFF2-40B4-BE49-F238E27FC236}">
                <a16:creationId xmlns:a16="http://schemas.microsoft.com/office/drawing/2014/main" id="{AF1C8809-654A-4DD1-BB18-87B8B6C020B9}"/>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F7D0B46-DEEA-1B5E-FE84-59D11F3B110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3" name="TextBox 2">
            <a:extLst>
              <a:ext uri="{FF2B5EF4-FFF2-40B4-BE49-F238E27FC236}">
                <a16:creationId xmlns:a16="http://schemas.microsoft.com/office/drawing/2014/main" id="{A236A0F8-4397-0572-71DD-F0FEE22CDFEF}"/>
              </a:ext>
            </a:extLst>
          </p:cNvPr>
          <p:cNvSpPr txBox="1"/>
          <p:nvPr/>
        </p:nvSpPr>
        <p:spPr>
          <a:xfrm>
            <a:off x="675958" y="802257"/>
            <a:ext cx="8235130" cy="646331"/>
          </a:xfrm>
          <a:prstGeom prst="rect">
            <a:avLst/>
          </a:prstGeom>
          <a:noFill/>
        </p:spPr>
        <p:txBody>
          <a:bodyPr wrap="square" rtlCol="0">
            <a:spAutoFit/>
          </a:bodyPr>
          <a:lstStyle/>
          <a:p>
            <a:r>
              <a:rPr lang="en-IN" dirty="0">
                <a:solidFill>
                  <a:srgbClr val="C00000"/>
                </a:solidFill>
                <a:hlinkClick r:id="rId3">
                  <a:extLst>
                    <a:ext uri="{A12FA001-AC4F-418D-AE19-62706E023703}">
                      <ahyp:hlinkClr xmlns:ahyp="http://schemas.microsoft.com/office/drawing/2018/hyperlinkcolor" val="tx"/>
                    </a:ext>
                  </a:extLst>
                </a:hlinkClick>
              </a:rPr>
              <a:t>https://github.com/samyakbiswas729-dev/Seasonal-Agriculture-Performance-Analysis</a:t>
            </a:r>
            <a:endParaRPr lang="en-IN" dirty="0">
              <a:solidFill>
                <a:srgbClr val="C00000"/>
              </a:solidFill>
            </a:endParaRPr>
          </a:p>
        </p:txBody>
      </p:sp>
    </p:spTree>
    <p:extLst>
      <p:ext uri="{BB962C8B-B14F-4D97-AF65-F5344CB8AC3E}">
        <p14:creationId xmlns:p14="http://schemas.microsoft.com/office/powerpoint/2010/main" val="3863610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866297-EA5A-44FA-6968-26D32B9B1EAC}"/>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5B12FC48-BC6E-8635-A49E-73EF17CEDC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42B692F6-18B4-BC16-EA0C-48FFBD5621DF}"/>
              </a:ext>
            </a:extLst>
          </p:cNvPr>
          <p:cNvSpPr>
            <a:spLocks noGrp="1"/>
          </p:cNvSpPr>
          <p:nvPr>
            <p:ph type="title"/>
          </p:nvPr>
        </p:nvSpPr>
        <p:spPr>
          <a:xfrm>
            <a:off x="675957" y="370589"/>
            <a:ext cx="8351388" cy="884658"/>
          </a:xfrm>
        </p:spPr>
        <p:txBody>
          <a:bodyPr>
            <a:normAutofit fontScale="90000"/>
          </a:bodyPr>
          <a:lstStyle/>
          <a:p>
            <a:r>
              <a:rPr lang="en-IN" sz="3200" dirty="0"/>
              <a:t>VOIS Course completion certificate - </a:t>
            </a:r>
            <a:br>
              <a:rPr lang="en-IN" sz="3200" dirty="0"/>
            </a:br>
            <a:r>
              <a:rPr lang="en-IN" sz="3200" dirty="0"/>
              <a:t>Course name- Data Visualization </a:t>
            </a:r>
            <a:br>
              <a:rPr lang="en-IN" sz="3200" dirty="0"/>
            </a:br>
            <a:endParaRPr lang="en-IN" sz="3200" dirty="0"/>
          </a:p>
        </p:txBody>
      </p:sp>
      <p:sp>
        <p:nvSpPr>
          <p:cNvPr id="7" name="Text Placeholder 30">
            <a:extLst>
              <a:ext uri="{FF2B5EF4-FFF2-40B4-BE49-F238E27FC236}">
                <a16:creationId xmlns:a16="http://schemas.microsoft.com/office/drawing/2014/main" id="{069BD300-7A70-B076-3B4C-43081E893162}"/>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8C1854F2-9914-C22F-FF0B-693CD1D0F966}"/>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10" name="Picture 9">
            <a:extLst>
              <a:ext uri="{FF2B5EF4-FFF2-40B4-BE49-F238E27FC236}">
                <a16:creationId xmlns:a16="http://schemas.microsoft.com/office/drawing/2014/main" id="{BD5A8F08-2C7F-73A0-9AE6-BDEC626C5216}"/>
              </a:ext>
            </a:extLst>
          </p:cNvPr>
          <p:cNvPicPr>
            <a:picLocks noChangeAspect="1"/>
          </p:cNvPicPr>
          <p:nvPr/>
        </p:nvPicPr>
        <p:blipFill>
          <a:blip r:embed="rId3"/>
          <a:stretch>
            <a:fillRect/>
          </a:stretch>
        </p:blipFill>
        <p:spPr>
          <a:xfrm>
            <a:off x="735353" y="1461602"/>
            <a:ext cx="7220681" cy="5106838"/>
          </a:xfrm>
          <a:prstGeom prst="rect">
            <a:avLst/>
          </a:prstGeom>
        </p:spPr>
      </p:pic>
    </p:spTree>
    <p:extLst>
      <p:ext uri="{BB962C8B-B14F-4D97-AF65-F5344CB8AC3E}">
        <p14:creationId xmlns:p14="http://schemas.microsoft.com/office/powerpoint/2010/main" val="3962802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D88C20CF-C1EE-4092-B52D-FD4AB2AB2508}"/>
              </a:ext>
            </a:extLst>
          </p:cNvPr>
          <p:cNvSpPr>
            <a:spLocks noGrp="1"/>
          </p:cNvSpPr>
          <p:nvPr>
            <p:ph type="title"/>
          </p:nvPr>
        </p:nvSpPr>
        <p:spPr>
          <a:prstGeom prst="rect">
            <a:avLst/>
          </a:prstGeom>
        </p:spPr>
        <p:txBody>
          <a:bodyPr anchor="ctr">
            <a:normAutofit fontScale="90000"/>
          </a:bodyPr>
          <a:lstStyle/>
          <a:p>
            <a:pPr algn="ctr"/>
            <a:r>
              <a:rPr lang="en-US" sz="4800" b="1" dirty="0">
                <a:solidFill>
                  <a:schemeClr val="tx1"/>
                </a:solidFill>
              </a:rPr>
              <a:t>Thank you</a:t>
            </a:r>
          </a:p>
        </p:txBody>
      </p:sp>
      <p:sp>
        <p:nvSpPr>
          <p:cNvPr id="31" name="Text Placeholder 30">
            <a:extLst>
              <a:ext uri="{FF2B5EF4-FFF2-40B4-BE49-F238E27FC236}">
                <a16:creationId xmlns:a16="http://schemas.microsoft.com/office/drawing/2014/main" id="{97AB1F14-3A1E-4057-A473-9975BA59F012}"/>
              </a:ext>
            </a:extLst>
          </p:cNvPr>
          <p:cNvSpPr>
            <a:spLocks noGrp="1"/>
          </p:cNvSpPr>
          <p:nvPr>
            <p:ph type="body" sz="quarter" idx="13"/>
          </p:nvPr>
        </p:nvSpPr>
        <p:spPr>
          <a:xfrm>
            <a:off x="3727865" y="4641925"/>
            <a:ext cx="2139695" cy="1108635"/>
          </a:xfrm>
        </p:spPr>
        <p:txBody>
          <a:bodyPr>
            <a:normAutofit/>
          </a:bodyPr>
          <a:lstStyle/>
          <a:p>
            <a:r>
              <a:rPr lang="en-US" dirty="0"/>
              <a:t>.</a:t>
            </a:r>
          </a:p>
        </p:txBody>
      </p:sp>
      <p:sp>
        <p:nvSpPr>
          <p:cNvPr id="17" name="Text Placeholder 28">
            <a:extLst>
              <a:ext uri="{FF2B5EF4-FFF2-40B4-BE49-F238E27FC236}">
                <a16:creationId xmlns:a16="http://schemas.microsoft.com/office/drawing/2014/main" id="{E212CE24-374D-44D0-8F39-0F5A36E42ED7}"/>
              </a:ext>
            </a:extLst>
          </p:cNvPr>
          <p:cNvSpPr txBox="1">
            <a:spLocks/>
          </p:cNvSpPr>
          <p:nvPr/>
        </p:nvSpPr>
        <p:spPr>
          <a:xfrm>
            <a:off x="878337" y="4134780"/>
            <a:ext cx="2596574" cy="453919"/>
          </a:xfrm>
          <a:prstGeom prst="rect">
            <a:avLst/>
          </a:prstGeom>
        </p:spPr>
        <p:txBody>
          <a:bodyPr vert="horz" lIns="91440" tIns="45720" rIns="91440" bIns="45720" rtlCol="0">
            <a:normAutofit lnSpcReduction="10000"/>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400" dirty="0"/>
          </a:p>
        </p:txBody>
      </p:sp>
      <p:sp>
        <p:nvSpPr>
          <p:cNvPr id="20" name="Text Placeholder 28">
            <a:extLst>
              <a:ext uri="{FF2B5EF4-FFF2-40B4-BE49-F238E27FC236}">
                <a16:creationId xmlns:a16="http://schemas.microsoft.com/office/drawing/2014/main" id="{A09A5BC1-0E62-4E6B-A590-951A87D4B4FE}"/>
              </a:ext>
            </a:extLst>
          </p:cNvPr>
          <p:cNvSpPr txBox="1">
            <a:spLocks/>
          </p:cNvSpPr>
          <p:nvPr/>
        </p:nvSpPr>
        <p:spPr>
          <a:xfrm>
            <a:off x="5353508" y="3962573"/>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23" name="Text Placeholder 28">
            <a:extLst>
              <a:ext uri="{FF2B5EF4-FFF2-40B4-BE49-F238E27FC236}">
                <a16:creationId xmlns:a16="http://schemas.microsoft.com/office/drawing/2014/main" id="{9E6B148F-F3B6-4E6B-9B85-645C039858E8}"/>
              </a:ext>
            </a:extLst>
          </p:cNvPr>
          <p:cNvSpPr txBox="1">
            <a:spLocks/>
          </p:cNvSpPr>
          <p:nvPr/>
        </p:nvSpPr>
        <p:spPr>
          <a:xfrm>
            <a:off x="7789163" y="3962572"/>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30" name="Text Placeholder 30">
            <a:extLst>
              <a:ext uri="{FF2B5EF4-FFF2-40B4-BE49-F238E27FC236}">
                <a16:creationId xmlns:a16="http://schemas.microsoft.com/office/drawing/2014/main" id="{D3BF02F6-2753-476A-8046-A85AE3A49748}"/>
              </a:ext>
            </a:extLst>
          </p:cNvPr>
          <p:cNvSpPr txBox="1">
            <a:spLocks/>
          </p:cNvSpPr>
          <p:nvPr/>
        </p:nvSpPr>
        <p:spPr>
          <a:xfrm>
            <a:off x="6096000"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dirty="0"/>
          </a:p>
        </p:txBody>
      </p:sp>
      <p:sp>
        <p:nvSpPr>
          <p:cNvPr id="32" name="Text Placeholder 30">
            <a:extLst>
              <a:ext uri="{FF2B5EF4-FFF2-40B4-BE49-F238E27FC236}">
                <a16:creationId xmlns:a16="http://schemas.microsoft.com/office/drawing/2014/main" id="{B993AB29-3A3A-4473-8AC8-86E859C97321}"/>
              </a:ext>
            </a:extLst>
          </p:cNvPr>
          <p:cNvSpPr txBox="1">
            <a:spLocks/>
          </p:cNvSpPr>
          <p:nvPr/>
        </p:nvSpPr>
        <p:spPr>
          <a:xfrm>
            <a:off x="8591363"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GB" dirty="0"/>
              <a:t>.</a:t>
            </a:r>
          </a:p>
        </p:txBody>
      </p:sp>
      <p:pic>
        <p:nvPicPr>
          <p:cNvPr id="15" name="Picture 14">
            <a:extLst>
              <a:ext uri="{FF2B5EF4-FFF2-40B4-BE49-F238E27FC236}">
                <a16:creationId xmlns:a16="http://schemas.microsoft.com/office/drawing/2014/main" id="{BD3F9E86-2FB3-4DB3-9343-59D594F350A0}"/>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12" name="Text Placeholder 11">
            <a:extLst>
              <a:ext uri="{FF2B5EF4-FFF2-40B4-BE49-F238E27FC236}">
                <a16:creationId xmlns:a16="http://schemas.microsoft.com/office/drawing/2014/main" id="{BC277FD7-925B-4C3D-A364-118403201507}"/>
              </a:ext>
            </a:extLst>
          </p:cNvPr>
          <p:cNvSpPr>
            <a:spLocks noGrp="1"/>
          </p:cNvSpPr>
          <p:nvPr>
            <p:ph type="body" sz="quarter" idx="12"/>
          </p:nvPr>
        </p:nvSpPr>
        <p:spPr>
          <a:xfrm>
            <a:off x="2975013" y="3962573"/>
            <a:ext cx="2139696" cy="344312"/>
          </a:xfrm>
        </p:spPr>
        <p:txBody>
          <a:bodyPr>
            <a:normAutofit fontScale="92500" lnSpcReduction="20000"/>
          </a:bodyPr>
          <a:lstStyle/>
          <a:p>
            <a:endParaRPr lang="en-IN" dirty="0"/>
          </a:p>
        </p:txBody>
      </p:sp>
    </p:spTree>
    <p:extLst>
      <p:ext uri="{BB962C8B-B14F-4D97-AF65-F5344CB8AC3E}">
        <p14:creationId xmlns:p14="http://schemas.microsoft.com/office/powerpoint/2010/main" val="3401748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par>
                    <p:cTn id="10" fill="hold">
                      <p:stCondLst>
                        <p:cond delay="indefinite"/>
                      </p:stCondLst>
                      <p:childTnLst>
                        <p:par>
                          <p:cTn id="11" fill="hold">
                            <p:stCondLst>
                              <p:cond delay="0"/>
                            </p:stCondLst>
                            <p:childTnLst>
                              <p:par>
                                <p:cTn id="12" presetID="12" presetClass="entr" presetSubtype="4" fill="hold" grpId="0" nodeType="clickEffect" nodePh="1">
                                  <p:stCondLst>
                                    <p:cond delay="0"/>
                                  </p:stCondLst>
                                  <p:endCondLst>
                                    <p:cond evt="begin" delay="0">
                                      <p:tn val="12"/>
                                    </p:cond>
                                  </p:endCondLst>
                                  <p:childTnLst>
                                    <p:set>
                                      <p:cBhvr>
                                        <p:cTn id="13" dur="1" fill="hold">
                                          <p:stCondLst>
                                            <p:cond delay="0"/>
                                          </p:stCondLst>
                                        </p:cTn>
                                        <p:tgtEl>
                                          <p:spTgt spid="17"/>
                                        </p:tgtEl>
                                        <p:attrNameLst>
                                          <p:attrName>style.visibility</p:attrName>
                                        </p:attrNameLst>
                                      </p:cBhvr>
                                      <p:to>
                                        <p:strVal val="visible"/>
                                      </p:to>
                                    </p:set>
                                    <p:anim calcmode="lin" valueType="num">
                                      <p:cBhvr additive="base">
                                        <p:cTn id="14" dur="500"/>
                                        <p:tgtEl>
                                          <p:spTgt spid="17"/>
                                        </p:tgtEl>
                                        <p:attrNameLst>
                                          <p:attrName>ppt_y</p:attrName>
                                        </p:attrNameLst>
                                      </p:cBhvr>
                                      <p:tavLst>
                                        <p:tav tm="0">
                                          <p:val>
                                            <p:strVal val="#ppt_y+#ppt_h*1.125000"/>
                                          </p:val>
                                        </p:tav>
                                        <p:tav tm="100000">
                                          <p:val>
                                            <p:strVal val="#ppt_y"/>
                                          </p:val>
                                        </p:tav>
                                      </p:tavLst>
                                    </p:anim>
                                    <p:animEffect transition="in" filter="wipe(up)">
                                      <p:cBhvr>
                                        <p:cTn id="15" dur="5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8" presetID="12" presetClass="entr" presetSubtype="4" fill="hold" grpId="0" nodeType="clickEffect">
                                  <p:stCondLst>
                                    <p:cond delay="0"/>
                                  </p:stCondLst>
                                  <p:childTnLst>
                                    <p:set>
                                      <p:cBhvr>
                                        <p:cTn id="19" dur="1" fill="hold">
                                          <p:stCondLst>
                                            <p:cond delay="0"/>
                                          </p:stCondLst>
                                        </p:cTn>
                                        <p:tgtEl>
                                          <p:spTgt spid="31">
                                            <p:txEl>
                                              <p:pRg st="0" end="0"/>
                                            </p:txEl>
                                          </p:spTgt>
                                        </p:tgtEl>
                                        <p:attrNameLst>
                                          <p:attrName>style.visibility</p:attrName>
                                        </p:attrNameLst>
                                      </p:cBhvr>
                                      <p:to>
                                        <p:strVal val="visible"/>
                                      </p:to>
                                    </p:set>
                                    <p:anim calcmode="lin" valueType="num">
                                      <p:cBhvr additive="base">
                                        <p:cTn id="20" dur="500"/>
                                        <p:tgtEl>
                                          <p:spTgt spid="31">
                                            <p:txEl>
                                              <p:pRg st="0" end="0"/>
                                            </p:txEl>
                                          </p:spTgt>
                                        </p:tgtEl>
                                        <p:attrNameLst>
                                          <p:attrName>ppt_y</p:attrName>
                                        </p:attrNameLst>
                                      </p:cBhvr>
                                      <p:tavLst>
                                        <p:tav tm="0">
                                          <p:val>
                                            <p:strVal val="#ppt_y+#ppt_h*1.125000"/>
                                          </p:val>
                                        </p:tav>
                                        <p:tav tm="100000">
                                          <p:val>
                                            <p:strVal val="#ppt_y"/>
                                          </p:val>
                                        </p:tav>
                                      </p:tavLst>
                                    </p:anim>
                                    <p:animEffect transition="in" filter="wipe(up)">
                                      <p:cBhvr>
                                        <p:cTn id="21" dur="500"/>
                                        <p:tgtEl>
                                          <p:spTgt spid="31">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2" presetClass="entr" presetSubtype="4" fill="hold" grpId="0" nodeType="clickEffect" nodePh="1">
                                  <p:stCondLst>
                                    <p:cond delay="0"/>
                                  </p:stCondLst>
                                  <p:endCondLst>
                                    <p:cond evt="begin" delay="0">
                                      <p:tn val="24"/>
                                    </p:cond>
                                  </p:endCondLst>
                                  <p:childTnLst>
                                    <p:set>
                                      <p:cBhvr>
                                        <p:cTn id="25" dur="1" fill="hold">
                                          <p:stCondLst>
                                            <p:cond delay="0"/>
                                          </p:stCondLst>
                                        </p:cTn>
                                        <p:tgtEl>
                                          <p:spTgt spid="20"/>
                                        </p:tgtEl>
                                        <p:attrNameLst>
                                          <p:attrName>style.visibility</p:attrName>
                                        </p:attrNameLst>
                                      </p:cBhvr>
                                      <p:to>
                                        <p:strVal val="visible"/>
                                      </p:to>
                                    </p:set>
                                    <p:anim calcmode="lin" valueType="num">
                                      <p:cBhvr additive="base">
                                        <p:cTn id="26" dur="500"/>
                                        <p:tgtEl>
                                          <p:spTgt spid="20"/>
                                        </p:tgtEl>
                                        <p:attrNameLst>
                                          <p:attrName>ppt_y</p:attrName>
                                        </p:attrNameLst>
                                      </p:cBhvr>
                                      <p:tavLst>
                                        <p:tav tm="0">
                                          <p:val>
                                            <p:strVal val="#ppt_y+#ppt_h*1.125000"/>
                                          </p:val>
                                        </p:tav>
                                        <p:tav tm="100000">
                                          <p:val>
                                            <p:strVal val="#ppt_y"/>
                                          </p:val>
                                        </p:tav>
                                      </p:tavLst>
                                    </p:anim>
                                    <p:animEffect transition="in" filter="wipe(up)">
                                      <p:cBhvr>
                                        <p:cTn id="27" dur="5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12" presetClass="entr" presetSubtype="4" fill="hold" grpId="0" nodeType="clickEffect" nodePh="1">
                                  <p:stCondLst>
                                    <p:cond delay="0"/>
                                  </p:stCondLst>
                                  <p:endCondLst>
                                    <p:cond evt="begin" delay="0">
                                      <p:tn val="30"/>
                                    </p:cond>
                                  </p:endCondLst>
                                  <p:childTnLst>
                                    <p:set>
                                      <p:cBhvr>
                                        <p:cTn id="31" dur="1" fill="hold">
                                          <p:stCondLst>
                                            <p:cond delay="0"/>
                                          </p:stCondLst>
                                        </p:cTn>
                                        <p:tgtEl>
                                          <p:spTgt spid="30"/>
                                        </p:tgtEl>
                                        <p:attrNameLst>
                                          <p:attrName>style.visibility</p:attrName>
                                        </p:attrNameLst>
                                      </p:cBhvr>
                                      <p:to>
                                        <p:strVal val="visible"/>
                                      </p:to>
                                    </p:set>
                                    <p:anim calcmode="lin" valueType="num">
                                      <p:cBhvr additive="base">
                                        <p:cTn id="32" dur="500"/>
                                        <p:tgtEl>
                                          <p:spTgt spid="30"/>
                                        </p:tgtEl>
                                        <p:attrNameLst>
                                          <p:attrName>ppt_y</p:attrName>
                                        </p:attrNameLst>
                                      </p:cBhvr>
                                      <p:tavLst>
                                        <p:tav tm="0">
                                          <p:val>
                                            <p:strVal val="#ppt_y+#ppt_h*1.125000"/>
                                          </p:val>
                                        </p:tav>
                                        <p:tav tm="100000">
                                          <p:val>
                                            <p:strVal val="#ppt_y"/>
                                          </p:val>
                                        </p:tav>
                                      </p:tavLst>
                                    </p:anim>
                                    <p:animEffect transition="in" filter="wipe(up)">
                                      <p:cBhvr>
                                        <p:cTn id="33" dur="500"/>
                                        <p:tgtEl>
                                          <p:spTgt spid="30"/>
                                        </p:tgtEl>
                                      </p:cBhvr>
                                    </p:animEffect>
                                  </p:childTnLst>
                                </p:cTn>
                              </p:par>
                            </p:childTnLst>
                          </p:cTn>
                        </p:par>
                      </p:childTnLst>
                    </p:cTn>
                  </p:par>
                  <p:par>
                    <p:cTn id="34" fill="hold">
                      <p:stCondLst>
                        <p:cond delay="indefinite"/>
                      </p:stCondLst>
                      <p:childTnLst>
                        <p:par>
                          <p:cTn id="35" fill="hold">
                            <p:stCondLst>
                              <p:cond delay="0"/>
                            </p:stCondLst>
                            <p:childTnLst>
                              <p:par>
                                <p:cTn id="36" presetID="12" presetClass="entr" presetSubtype="4" fill="hold" grpId="0" nodeType="clickEffect" nodePh="1">
                                  <p:stCondLst>
                                    <p:cond delay="0"/>
                                  </p:stCondLst>
                                  <p:endCondLst>
                                    <p:cond evt="begin" delay="0">
                                      <p:tn val="36"/>
                                    </p:cond>
                                  </p:endCondLst>
                                  <p:childTnLst>
                                    <p:set>
                                      <p:cBhvr>
                                        <p:cTn id="37" dur="1" fill="hold">
                                          <p:stCondLst>
                                            <p:cond delay="0"/>
                                          </p:stCondLst>
                                        </p:cTn>
                                        <p:tgtEl>
                                          <p:spTgt spid="23"/>
                                        </p:tgtEl>
                                        <p:attrNameLst>
                                          <p:attrName>style.visibility</p:attrName>
                                        </p:attrNameLst>
                                      </p:cBhvr>
                                      <p:to>
                                        <p:strVal val="visible"/>
                                      </p:to>
                                    </p:set>
                                    <p:anim calcmode="lin" valueType="num">
                                      <p:cBhvr additive="base">
                                        <p:cTn id="38" dur="500"/>
                                        <p:tgtEl>
                                          <p:spTgt spid="23"/>
                                        </p:tgtEl>
                                        <p:attrNameLst>
                                          <p:attrName>ppt_y</p:attrName>
                                        </p:attrNameLst>
                                      </p:cBhvr>
                                      <p:tavLst>
                                        <p:tav tm="0">
                                          <p:val>
                                            <p:strVal val="#ppt_y+#ppt_h*1.125000"/>
                                          </p:val>
                                        </p:tav>
                                        <p:tav tm="100000">
                                          <p:val>
                                            <p:strVal val="#ppt_y"/>
                                          </p:val>
                                        </p:tav>
                                      </p:tavLst>
                                    </p:anim>
                                    <p:animEffect transition="in" filter="wipe(up)">
                                      <p:cBhvr>
                                        <p:cTn id="39" dur="500"/>
                                        <p:tgtEl>
                                          <p:spTgt spid="23"/>
                                        </p:tgtEl>
                                      </p:cBhvr>
                                    </p:animEffect>
                                  </p:childTnLst>
                                </p:cTn>
                              </p:par>
                            </p:childTnLst>
                          </p:cTn>
                        </p:par>
                      </p:childTnLst>
                    </p:cTn>
                  </p:par>
                  <p:par>
                    <p:cTn id="40" fill="hold">
                      <p:stCondLst>
                        <p:cond delay="indefinite"/>
                      </p:stCondLst>
                      <p:childTnLst>
                        <p:par>
                          <p:cTn id="41" fill="hold">
                            <p:stCondLst>
                              <p:cond delay="0"/>
                            </p:stCondLst>
                            <p:childTnLst>
                              <p:par>
                                <p:cTn id="42" presetID="12" presetClass="entr" presetSubtype="4" fill="hold" grpId="0" nodeType="clickEffect">
                                  <p:stCondLst>
                                    <p:cond delay="0"/>
                                  </p:stCondLst>
                                  <p:childTnLst>
                                    <p:set>
                                      <p:cBhvr>
                                        <p:cTn id="43" dur="1" fill="hold">
                                          <p:stCondLst>
                                            <p:cond delay="0"/>
                                          </p:stCondLst>
                                        </p:cTn>
                                        <p:tgtEl>
                                          <p:spTgt spid="32"/>
                                        </p:tgtEl>
                                        <p:attrNameLst>
                                          <p:attrName>style.visibility</p:attrName>
                                        </p:attrNameLst>
                                      </p:cBhvr>
                                      <p:to>
                                        <p:strVal val="visible"/>
                                      </p:to>
                                    </p:set>
                                    <p:anim calcmode="lin" valueType="num">
                                      <p:cBhvr additive="base">
                                        <p:cTn id="44" dur="500"/>
                                        <p:tgtEl>
                                          <p:spTgt spid="32"/>
                                        </p:tgtEl>
                                        <p:attrNameLst>
                                          <p:attrName>ppt_y</p:attrName>
                                        </p:attrNameLst>
                                      </p:cBhvr>
                                      <p:tavLst>
                                        <p:tav tm="0">
                                          <p:val>
                                            <p:strVal val="#ppt_y+#ppt_h*1.125000"/>
                                          </p:val>
                                        </p:tav>
                                        <p:tav tm="100000">
                                          <p:val>
                                            <p:strVal val="#ppt_y"/>
                                          </p:val>
                                        </p:tav>
                                      </p:tavLst>
                                    </p:anim>
                                    <p:animEffect transition="in" filter="wipe(up)">
                                      <p:cBhvr>
                                        <p:cTn id="45"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31" grpId="0" build="p"/>
      <p:bldP spid="17" grpId="0"/>
      <p:bldP spid="20" grpId="0"/>
      <p:bldP spid="23" grpId="0"/>
      <p:bldP spid="30" grpId="0"/>
      <p:bldP spid="32" grpId="0"/>
    </p:bld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426e97fa315356fffbdcd9876fe988c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14b8f0def80e6d70ce3def20c90759a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B19EB750-A6DA-4BE8-B87B-FC499FE7336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4DEA9014-ED64-4558-B1E1-D03F0EE32BEB}">
  <ds:schemaRefs>
    <ds:schemaRef ds:uri="http://schemas.microsoft.com/office/2006/metadata/properties"/>
    <ds:schemaRef ds:uri="http://schemas.microsoft.com/office/infopath/2007/PartnerControls"/>
    <ds:schemaRef ds:uri="71af3243-3dd4-4a8d-8c0d-dd76da1f02a5"/>
  </ds:schemaRefs>
</ds:datastoreItem>
</file>

<file path=customXml/itemProps3.xml><?xml version="1.0" encoding="utf-8"?>
<ds:datastoreItem xmlns:ds="http://schemas.openxmlformats.org/officeDocument/2006/customXml" ds:itemID="{05D99ABA-76CE-4A8E-B5F0-C051B96628DE}">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Facet</Template>
  <TotalTime>600</TotalTime>
  <Words>943</Words>
  <Application>Microsoft Office PowerPoint</Application>
  <PresentationFormat>Widescreen</PresentationFormat>
  <Paragraphs>42</Paragraphs>
  <Slides>14</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14</vt:i4>
      </vt:variant>
    </vt:vector>
  </HeadingPairs>
  <TitlesOfParts>
    <vt:vector size="20" baseType="lpstr">
      <vt:lpstr>Arial</vt:lpstr>
      <vt:lpstr>Calibri</vt:lpstr>
      <vt:lpstr>Trebuchet MS</vt:lpstr>
      <vt:lpstr>Wingdings</vt:lpstr>
      <vt:lpstr>Wingdings 3</vt:lpstr>
      <vt:lpstr>Facet</vt:lpstr>
      <vt:lpstr>Project Title - Seasonal Agriculture Performance Analysis</vt:lpstr>
      <vt:lpstr>PROBLEM  STATEMENT</vt:lpstr>
      <vt:lpstr>Project Description  This project analyses farm-level agricultural data across Kharif, Rabi and Zaid seasons. The analysis includes data cleaning, exploratory data analysis, statistical analysis and visualization to understand differences in: • Crop yield • Profitability • Water usage and efficiency • Irrigation methods • Environmental conditions • Disease and pest risk • Crop and regional performance  The final objective is to generate meaningful insights and data-driven recommendations for better seasonal agricultural planning.   </vt:lpstr>
      <vt:lpstr>WHO ARE THE END USERS?</vt:lpstr>
      <vt:lpstr>Technology Used</vt:lpstr>
      <vt:lpstr>RESULTS </vt:lpstr>
      <vt:lpstr>RESULTS </vt:lpstr>
      <vt:lpstr>RESULTS </vt:lpstr>
      <vt:lpstr>RESULTS </vt:lpstr>
      <vt:lpstr>RESULTS </vt:lpstr>
      <vt:lpstr>Future scope  • Use multi-year agricultural data for more reliable seasonal analysis.  • Integrate historical and forecasted weather data.  • Develop crop- and region-specific recommendation systems.  • Build machine-learning models for yield and profit prediction.  • Include market-price forecasting.  • Develop an interactive agricultural dashboard.  • Monitor irrigation, fertilizer and pesticide efficiency over time.  </vt:lpstr>
      <vt:lpstr>GitHub Link</vt:lpstr>
      <vt:lpstr>VOIS Course completion certificate -  Course name- Data Visualization  </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MASKED HUNTERS</dc:title>
  <dc:creator>Venkataswamy</dc:creator>
  <cp:lastModifiedBy>Samyak Biswas</cp:lastModifiedBy>
  <cp:revision>100</cp:revision>
  <dcterms:created xsi:type="dcterms:W3CDTF">2021-07-11T13:13:15Z</dcterms:created>
  <dcterms:modified xsi:type="dcterms:W3CDTF">2026-09-03T18:00:32Z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